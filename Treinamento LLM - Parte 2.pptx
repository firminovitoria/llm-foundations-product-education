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5"/>
    <p:sldMasterId id="214748367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y="5143500" cx="9144000"/>
  <p:notesSz cx="6858000" cy="9144000"/>
  <p:embeddedFontLst>
    <p:embeddedFont>
      <p:font typeface="REM Medium"/>
      <p:regular r:id="rId56"/>
      <p:bold r:id="rId57"/>
      <p:italic r:id="rId58"/>
      <p:boldItalic r:id="rId59"/>
    </p:embeddedFont>
    <p:embeddedFont>
      <p:font typeface="REM SemiBold"/>
      <p:regular r:id="rId60"/>
      <p:bold r:id="rId61"/>
      <p:italic r:id="rId62"/>
      <p:boldItalic r:id="rId63"/>
    </p:embeddedFont>
    <p:embeddedFont>
      <p:font typeface="REM Light"/>
      <p:regular r:id="rId64"/>
      <p:bold r:id="rId65"/>
      <p:italic r:id="rId66"/>
      <p:boldItalic r:id="rId67"/>
    </p:embeddedFont>
    <p:embeddedFont>
      <p:font typeface="REM ExtraLight"/>
      <p:regular r:id="rId68"/>
      <p:bold r:id="rId69"/>
      <p:italic r:id="rId70"/>
      <p:boldItalic r:id="rId71"/>
    </p:embeddedFont>
    <p:embeddedFont>
      <p:font typeface="REM"/>
      <p:regular r:id="rId72"/>
      <p:bold r:id="rId73"/>
      <p:italic r:id="rId74"/>
      <p:boldItalic r:id="rId75"/>
    </p:embeddedFont>
    <p:embeddedFont>
      <p:font typeface="REM ExtraBold"/>
      <p:bold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76ABEE7-9EDA-45B7-9C2E-4049F43EADCF}">
  <a:tblStyle styleId="{F76ABEE7-9EDA-45B7-9C2E-4049F43EADC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REM-bold.fntdata"/><Relationship Id="rId72" Type="http://schemas.openxmlformats.org/officeDocument/2006/relationships/font" Target="fonts/REM-regular.fntdata"/><Relationship Id="rId31" Type="http://schemas.openxmlformats.org/officeDocument/2006/relationships/slide" Target="slides/slide24.xml"/><Relationship Id="rId75" Type="http://schemas.openxmlformats.org/officeDocument/2006/relationships/font" Target="fonts/REM-boldItalic.fntdata"/><Relationship Id="rId30" Type="http://schemas.openxmlformats.org/officeDocument/2006/relationships/slide" Target="slides/slide23.xml"/><Relationship Id="rId74" Type="http://schemas.openxmlformats.org/officeDocument/2006/relationships/font" Target="fonts/REM-italic.fntdata"/><Relationship Id="rId33" Type="http://schemas.openxmlformats.org/officeDocument/2006/relationships/slide" Target="slides/slide26.xml"/><Relationship Id="rId77" Type="http://schemas.openxmlformats.org/officeDocument/2006/relationships/font" Target="fonts/REMExtraBold-boldItalic.fntdata"/><Relationship Id="rId32" Type="http://schemas.openxmlformats.org/officeDocument/2006/relationships/slide" Target="slides/slide25.xml"/><Relationship Id="rId76" Type="http://schemas.openxmlformats.org/officeDocument/2006/relationships/font" Target="fonts/REMExtraBold-bold.fntdata"/><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REMExtraLight-boldItalic.fntdata"/><Relationship Id="rId70" Type="http://schemas.openxmlformats.org/officeDocument/2006/relationships/font" Target="fonts/REMExtraLight-italic.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REMSemiBold-italic.fntdata"/><Relationship Id="rId61" Type="http://schemas.openxmlformats.org/officeDocument/2006/relationships/font" Target="fonts/REMSemiBold-bold.fntdata"/><Relationship Id="rId20" Type="http://schemas.openxmlformats.org/officeDocument/2006/relationships/slide" Target="slides/slide13.xml"/><Relationship Id="rId64" Type="http://schemas.openxmlformats.org/officeDocument/2006/relationships/font" Target="fonts/REMLight-regular.fntdata"/><Relationship Id="rId63" Type="http://schemas.openxmlformats.org/officeDocument/2006/relationships/font" Target="fonts/REMSemiBold-boldItalic.fntdata"/><Relationship Id="rId22" Type="http://schemas.openxmlformats.org/officeDocument/2006/relationships/slide" Target="slides/slide15.xml"/><Relationship Id="rId66" Type="http://schemas.openxmlformats.org/officeDocument/2006/relationships/font" Target="fonts/REMLight-italic.fntdata"/><Relationship Id="rId21" Type="http://schemas.openxmlformats.org/officeDocument/2006/relationships/slide" Target="slides/slide14.xml"/><Relationship Id="rId65" Type="http://schemas.openxmlformats.org/officeDocument/2006/relationships/font" Target="fonts/REMLight-bold.fntdata"/><Relationship Id="rId24" Type="http://schemas.openxmlformats.org/officeDocument/2006/relationships/slide" Target="slides/slide17.xml"/><Relationship Id="rId68" Type="http://schemas.openxmlformats.org/officeDocument/2006/relationships/font" Target="fonts/REMExtraLight-regular.fntdata"/><Relationship Id="rId23" Type="http://schemas.openxmlformats.org/officeDocument/2006/relationships/slide" Target="slides/slide16.xml"/><Relationship Id="rId67" Type="http://schemas.openxmlformats.org/officeDocument/2006/relationships/font" Target="fonts/REMLight-boldItalic.fntdata"/><Relationship Id="rId60" Type="http://schemas.openxmlformats.org/officeDocument/2006/relationships/font" Target="fonts/REMSemiBold-regular.fntdata"/><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REMExtraLight-bold.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font" Target="fonts/REMMedium-bold.fntdata"/><Relationship Id="rId12" Type="http://schemas.openxmlformats.org/officeDocument/2006/relationships/slide" Target="slides/slide5.xml"/><Relationship Id="rId56" Type="http://schemas.openxmlformats.org/officeDocument/2006/relationships/font" Target="fonts/REMMedium-regular.fntdata"/><Relationship Id="rId15" Type="http://schemas.openxmlformats.org/officeDocument/2006/relationships/slide" Target="slides/slide8.xml"/><Relationship Id="rId59" Type="http://schemas.openxmlformats.org/officeDocument/2006/relationships/font" Target="fonts/REMMedium-boldItalic.fntdata"/><Relationship Id="rId14" Type="http://schemas.openxmlformats.org/officeDocument/2006/relationships/slide" Target="slides/slide7.xml"/><Relationship Id="rId58" Type="http://schemas.openxmlformats.org/officeDocument/2006/relationships/font" Target="fonts/REMMedium-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d3759cb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d3759cb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38359c08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938359c08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8de75dd59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8de75dd59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8de75dd599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8de75dd599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3c2422c6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3c2422c6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93c9b8f07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93c9b8f07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3c9b8f07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93c9b8f07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3c9b8f075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93c9b8f07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3c9b8f075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93c9b8f075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93c9b8f075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93c9b8f075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93c9b8f075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93c9b8f075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93c9b8f075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93c9b8f075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93c9b8f075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93c9b8f075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93c9b8f075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93c9b8f075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3c9b8f075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93c9b8f075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93c9b8f075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93c9b8f075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93c9b8f075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93c9b8f075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93c9b8f075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93c9b8f075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93c9b8f075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93c9b8f075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93c9b8f075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93c9b8f075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93c9b8f075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93c9b8f075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93c9b8f075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93c9b8f075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93c9b8f075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93c9b8f075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93c9b8f075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93c9b8f075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93c9b8f075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93c9b8f075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93c9b8f075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93c9b8f075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93c9b8f075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93c9b8f075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93c9b8f075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93c9b8f075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93c9b8f075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93c9b8f075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93c9b8f075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93c9b8f075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93c9b8f075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93c9b8f075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93c9b8f075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93c9b8f075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93d04a4c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93d04a4c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93d04a4c2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93d04a4c2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93d04a4c2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93d04a4c2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93d04a4c2e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93d04a4c2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93d04a4c2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93d04a4c2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93d04a4c2e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93d04a4c2e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93c9b8f075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93c9b8f075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93d04a4c2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93d04a4c2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93d04a4c2e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93d04a4c2e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93d04a4c2e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93d04a4c2e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93d04a4c2e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93d04a4c2e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93d04a4c2e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93d04a4c2e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93d04a4c2e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93d04a4c2e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93d04a4c2e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93d04a4c2e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93d04a4c2e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93d04a4c2e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93d04a4c2e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93d04a4c2e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1">
  <p:cSld name="TITLE_1">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nas - Conteúdo">
  <p:cSld name="TITLE_AND_BODY_6">
    <p:bg>
      <p:bgPr>
        <a:solidFill>
          <a:schemeClr val="lt1"/>
        </a:solidFill>
      </p:bgPr>
    </p:bg>
    <p:spTree>
      <p:nvGrpSpPr>
        <p:cNvPr id="52" name="Shape 5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e seção 1">
  <p:cSld name="SECTION_HEADER_1">
    <p:bg>
      <p:bgPr>
        <a:blipFill>
          <a:blip r:embed="rId2">
            <a:alphaModFix/>
          </a:blip>
          <a:stretch>
            <a:fillRect/>
          </a:stretch>
        </a:blipFill>
      </p:bgPr>
    </p:bg>
    <p:spTree>
      <p:nvGrpSpPr>
        <p:cNvPr id="53" name="Shape 53"/>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e seção 2">
  <p:cSld name="SECTION_HEADER_2">
    <p:bg>
      <p:bgPr>
        <a:blipFill>
          <a:blip r:embed="rId2">
            <a:alphaModFix/>
          </a:blip>
          <a:stretch>
            <a:fillRect/>
          </a:stretch>
        </a:blipFill>
      </p:bgPr>
    </p:bg>
    <p:spTree>
      <p:nvGrpSpPr>
        <p:cNvPr id="54" name="Shape 54"/>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59" name="Shape 59"/>
        <p:cNvGrpSpPr/>
        <p:nvPr/>
      </p:nvGrpSpPr>
      <p:grpSpPr>
        <a:xfrm>
          <a:off x="0" y="0"/>
          <a:ext cx="0" cy="0"/>
          <a:chOff x="0" y="0"/>
          <a:chExt cx="0" cy="0"/>
        </a:xfrm>
      </p:grpSpPr>
      <p:sp>
        <p:nvSpPr>
          <p:cNvPr id="60" name="Google Shape;60;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61" name="Shape 61"/>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nas - Conteúdo">
  <p:cSld name="TITLE_AND_BODY_6">
    <p:bg>
      <p:bgPr>
        <a:solidFill>
          <a:schemeClr val="lt1"/>
        </a:solidFill>
      </p:bgPr>
    </p:bg>
    <p:spTree>
      <p:nvGrpSpPr>
        <p:cNvPr id="62" name="Shape 62"/>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blipFill>
          <a:blip r:embed="rId2">
            <a:alphaModFix/>
          </a:blip>
          <a:stretch>
            <a:fillRect/>
          </a:stretch>
        </a:blipFill>
      </p:bgPr>
    </p:bg>
    <p:spTree>
      <p:nvGrpSpPr>
        <p:cNvPr id="63" name="Shape 63"/>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4" name="Shape 64"/>
        <p:cNvGrpSpPr/>
        <p:nvPr/>
      </p:nvGrpSpPr>
      <p:grpSpPr>
        <a:xfrm>
          <a:off x="0" y="0"/>
          <a:ext cx="0" cy="0"/>
          <a:chOff x="0" y="0"/>
          <a:chExt cx="0" cy="0"/>
        </a:xfrm>
      </p:grpSpPr>
      <p:sp>
        <p:nvSpPr>
          <p:cNvPr id="65" name="Google Shape;65;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 name="Google Shape;66;p2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67" name="Google Shape;67;p2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68" name="Google Shape;6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2" name="Shape 72"/>
        <p:cNvGrpSpPr/>
        <p:nvPr/>
      </p:nvGrpSpPr>
      <p:grpSpPr>
        <a:xfrm>
          <a:off x="0" y="0"/>
          <a:ext cx="0" cy="0"/>
          <a:chOff x="0" y="0"/>
          <a:chExt cx="0" cy="0"/>
        </a:xfrm>
      </p:grpSpPr>
      <p:sp>
        <p:nvSpPr>
          <p:cNvPr id="73" name="Google Shape;73;p2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4" name="Google Shape;74;p2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75" name="Google Shape;75;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2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8" name="Google Shape;78;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9" name="Shape 79"/>
        <p:cNvGrpSpPr/>
        <p:nvPr/>
      </p:nvGrpSpPr>
      <p:grpSpPr>
        <a:xfrm>
          <a:off x="0" y="0"/>
          <a:ext cx="0" cy="0"/>
          <a:chOff x="0" y="0"/>
          <a:chExt cx="0" cy="0"/>
        </a:xfrm>
      </p:grpSpPr>
      <p:sp>
        <p:nvSpPr>
          <p:cNvPr id="80" name="Google Shape;80;p2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2" name="Google Shape;82;p26"/>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3" name="Google Shape;83;p2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84" name="Google Shape;84;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5" name="Shape 85"/>
        <p:cNvGrpSpPr/>
        <p:nvPr/>
      </p:nvGrpSpPr>
      <p:grpSpPr>
        <a:xfrm>
          <a:off x="0" y="0"/>
          <a:ext cx="0" cy="0"/>
          <a:chOff x="0" y="0"/>
          <a:chExt cx="0" cy="0"/>
        </a:xfrm>
      </p:grpSpPr>
      <p:sp>
        <p:nvSpPr>
          <p:cNvPr id="86" name="Google Shape;86;p27"/>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87" name="Google Shape;87;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8" name="Shape 88"/>
        <p:cNvGrpSpPr/>
        <p:nvPr/>
      </p:nvGrpSpPr>
      <p:grpSpPr>
        <a:xfrm>
          <a:off x="0" y="0"/>
          <a:ext cx="0" cy="0"/>
          <a:chOff x="0" y="0"/>
          <a:chExt cx="0" cy="0"/>
        </a:xfrm>
      </p:grpSpPr>
      <p:sp>
        <p:nvSpPr>
          <p:cNvPr id="89" name="Google Shape;89;p2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0" name="Google Shape;90;p28"/>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91" name="Google Shape;91;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2" name="Shape 92"/>
        <p:cNvGrpSpPr/>
        <p:nvPr/>
      </p:nvGrpSpPr>
      <p:grpSpPr>
        <a:xfrm>
          <a:off x="0" y="0"/>
          <a:ext cx="0" cy="0"/>
          <a:chOff x="0" y="0"/>
          <a:chExt cx="0" cy="0"/>
        </a:xfrm>
      </p:grpSpPr>
      <p:sp>
        <p:nvSpPr>
          <p:cNvPr id="93" name="Google Shape;93;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5">
    <p:spTree>
      <p:nvGrpSpPr>
        <p:cNvPr id="94" name="Shape 94"/>
        <p:cNvGrpSpPr/>
        <p:nvPr/>
      </p:nvGrpSpPr>
      <p:grpSpPr>
        <a:xfrm>
          <a:off x="0" y="0"/>
          <a:ext cx="0" cy="0"/>
          <a:chOff x="0" y="0"/>
          <a:chExt cx="0" cy="0"/>
        </a:xfrm>
      </p:grpSpPr>
      <p:sp>
        <p:nvSpPr>
          <p:cNvPr id="95" name="Google Shape;95;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6" name="Google Shape;96;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97" name="Google Shape;97;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0" Type="http://schemas.openxmlformats.org/officeDocument/2006/relationships/slideLayout" Target="../slideLayouts/slideLayout25.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1.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 name="Shape 55"/>
        <p:cNvGrpSpPr/>
        <p:nvPr/>
      </p:nvGrpSpPr>
      <p:grpSpPr>
        <a:xfrm>
          <a:off x="0" y="0"/>
          <a:ext cx="0" cy="0"/>
          <a:chOff x="0" y="0"/>
          <a:chExt cx="0" cy="0"/>
        </a:xfrm>
      </p:grpSpPr>
      <p:sp>
        <p:nvSpPr>
          <p:cNvPr id="56" name="Google Shape;5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7" name="Google Shape;57;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sz="1400">
                <a:solidFill>
                  <a:schemeClr val="dk2"/>
                </a:solidFill>
              </a:defRPr>
            </a:lvl2pPr>
            <a:lvl3pPr indent="-317500" lvl="2" marL="1371600">
              <a:lnSpc>
                <a:spcPct val="115000"/>
              </a:lnSpc>
              <a:spcBef>
                <a:spcPts val="1600"/>
              </a:spcBef>
              <a:spcAft>
                <a:spcPts val="0"/>
              </a:spcAft>
              <a:buClr>
                <a:schemeClr val="dk2"/>
              </a:buClr>
              <a:buSzPts val="1400"/>
              <a:buChar char="■"/>
              <a:defRPr sz="1400">
                <a:solidFill>
                  <a:schemeClr val="dk2"/>
                </a:solidFill>
              </a:defRPr>
            </a:lvl3pPr>
            <a:lvl4pPr indent="-317500" lvl="3" marL="1828800">
              <a:lnSpc>
                <a:spcPct val="115000"/>
              </a:lnSpc>
              <a:spcBef>
                <a:spcPts val="1600"/>
              </a:spcBef>
              <a:spcAft>
                <a:spcPts val="0"/>
              </a:spcAft>
              <a:buClr>
                <a:schemeClr val="dk2"/>
              </a:buClr>
              <a:buSzPts val="1400"/>
              <a:buChar char="●"/>
              <a:defRPr sz="1400">
                <a:solidFill>
                  <a:schemeClr val="dk2"/>
                </a:solidFill>
              </a:defRPr>
            </a:lvl4pPr>
            <a:lvl5pPr indent="-317500" lvl="4" marL="2286000">
              <a:lnSpc>
                <a:spcPct val="115000"/>
              </a:lnSpc>
              <a:spcBef>
                <a:spcPts val="1600"/>
              </a:spcBef>
              <a:spcAft>
                <a:spcPts val="0"/>
              </a:spcAft>
              <a:buClr>
                <a:schemeClr val="dk2"/>
              </a:buClr>
              <a:buSzPts val="1400"/>
              <a:buChar char="○"/>
              <a:defRPr sz="1400">
                <a:solidFill>
                  <a:schemeClr val="dk2"/>
                </a:solidFill>
              </a:defRPr>
            </a:lvl5pPr>
            <a:lvl6pPr indent="-317500" lvl="5" marL="2743200">
              <a:lnSpc>
                <a:spcPct val="115000"/>
              </a:lnSpc>
              <a:spcBef>
                <a:spcPts val="1600"/>
              </a:spcBef>
              <a:spcAft>
                <a:spcPts val="0"/>
              </a:spcAft>
              <a:buClr>
                <a:schemeClr val="dk2"/>
              </a:buClr>
              <a:buSzPts val="1400"/>
              <a:buChar char="■"/>
              <a:defRPr sz="1400">
                <a:solidFill>
                  <a:schemeClr val="dk2"/>
                </a:solidFill>
              </a:defRPr>
            </a:lvl6pPr>
            <a:lvl7pPr indent="-317500" lvl="6" marL="3200400">
              <a:lnSpc>
                <a:spcPct val="115000"/>
              </a:lnSpc>
              <a:spcBef>
                <a:spcPts val="1600"/>
              </a:spcBef>
              <a:spcAft>
                <a:spcPts val="0"/>
              </a:spcAft>
              <a:buClr>
                <a:schemeClr val="dk2"/>
              </a:buClr>
              <a:buSzPts val="1400"/>
              <a:buChar char="●"/>
              <a:defRPr sz="1400">
                <a:solidFill>
                  <a:schemeClr val="dk2"/>
                </a:solidFill>
              </a:defRPr>
            </a:lvl7pPr>
            <a:lvl8pPr indent="-317500" lvl="7" marL="3657600">
              <a:lnSpc>
                <a:spcPct val="115000"/>
              </a:lnSpc>
              <a:spcBef>
                <a:spcPts val="1600"/>
              </a:spcBef>
              <a:spcAft>
                <a:spcPts val="0"/>
              </a:spcAft>
              <a:buClr>
                <a:schemeClr val="dk2"/>
              </a:buClr>
              <a:buSzPts val="1400"/>
              <a:buChar char="○"/>
              <a:defRPr sz="1400">
                <a:solidFill>
                  <a:schemeClr val="dk2"/>
                </a:solidFill>
              </a:defRPr>
            </a:lvl8pPr>
            <a:lvl9pPr indent="-317500" lvl="8" marL="4114800">
              <a:lnSpc>
                <a:spcPct val="115000"/>
              </a:lnSpc>
              <a:spcBef>
                <a:spcPts val="1600"/>
              </a:spcBef>
              <a:spcAft>
                <a:spcPts val="1600"/>
              </a:spcAft>
              <a:buClr>
                <a:schemeClr val="dk2"/>
              </a:buClr>
              <a:buSzPts val="1400"/>
              <a:buChar char="■"/>
              <a:defRPr sz="1400">
                <a:solidFill>
                  <a:schemeClr val="dk2"/>
                </a:solidFill>
              </a:defRPr>
            </a:lvl9pPr>
          </a:lstStyle>
          <a:p/>
        </p:txBody>
      </p:sp>
      <p:sp>
        <p:nvSpPr>
          <p:cNvPr id="58" name="Google Shape;5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0.xml"/><Relationship Id="rId3" Type="http://schemas.openxmlformats.org/officeDocument/2006/relationships/image" Target="../media/image2.png"/><Relationship Id="rId4" Type="http://schemas.openxmlformats.org/officeDocument/2006/relationships/hyperlink" Target="https://aclanthology.org/2020.acl-main.485/"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1.xml"/><Relationship Id="rId3" Type="http://schemas.openxmlformats.org/officeDocument/2006/relationships/image" Target="../media/image2.png"/><Relationship Id="rId4" Type="http://schemas.openxmlformats.org/officeDocument/2006/relationships/hyperlink" Target="https://dl.acm.org/doi/10.1145/3442188.3445922"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3.xml"/><Relationship Id="rId3" Type="http://schemas.openxmlformats.org/officeDocument/2006/relationships/image" Target="../media/image2.png"/><Relationship Id="rId4" Type="http://schemas.openxmlformats.org/officeDocument/2006/relationships/hyperlink" Target="https://dl.acm.org/doi/10.1145/230538.230561"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5.xml"/><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7.xml"/><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
        <p:nvSpPr>
          <p:cNvPr id="102" name="Google Shape;102;p31"/>
          <p:cNvSpPr txBox="1"/>
          <p:nvPr/>
        </p:nvSpPr>
        <p:spPr>
          <a:xfrm>
            <a:off x="1124025" y="3910700"/>
            <a:ext cx="40104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rgbClr val="FFFFFF"/>
                </a:solidFill>
                <a:latin typeface="REM SemiBold"/>
                <a:ea typeface="REM SemiBold"/>
                <a:cs typeface="REM SemiBold"/>
                <a:sym typeface="REM SemiBold"/>
              </a:rPr>
              <a:t>Vitória Firmino</a:t>
            </a:r>
            <a:endParaRPr sz="1200">
              <a:solidFill>
                <a:srgbClr val="FFFFFF"/>
              </a:solidFill>
              <a:latin typeface="REM SemiBold"/>
              <a:ea typeface="REM SemiBold"/>
              <a:cs typeface="REM SemiBold"/>
              <a:sym typeface="REM SemiBold"/>
            </a:endParaRPr>
          </a:p>
          <a:p>
            <a:pPr indent="0" lvl="0" marL="0" rtl="0" algn="l">
              <a:spcBef>
                <a:spcPts val="0"/>
              </a:spcBef>
              <a:spcAft>
                <a:spcPts val="0"/>
              </a:spcAft>
              <a:buNone/>
            </a:pPr>
            <a:r>
              <a:rPr lang="pt-BR" sz="900">
                <a:solidFill>
                  <a:srgbClr val="FFFFFF"/>
                </a:solidFill>
                <a:latin typeface="REM Light"/>
                <a:ea typeface="REM Light"/>
                <a:cs typeface="REM Light"/>
                <a:sym typeface="REM Light"/>
              </a:rPr>
              <a:t>Product Owner</a:t>
            </a:r>
            <a:endParaRPr sz="900">
              <a:solidFill>
                <a:srgbClr val="FFFFFF"/>
              </a:solidFill>
              <a:latin typeface="REM Light"/>
              <a:ea typeface="REM Light"/>
              <a:cs typeface="REM Light"/>
              <a:sym typeface="REM Light"/>
            </a:endParaRPr>
          </a:p>
        </p:txBody>
      </p:sp>
      <p:sp>
        <p:nvSpPr>
          <p:cNvPr id="103" name="Google Shape;103;p31"/>
          <p:cNvSpPr txBox="1"/>
          <p:nvPr/>
        </p:nvSpPr>
        <p:spPr>
          <a:xfrm>
            <a:off x="571400" y="2407650"/>
            <a:ext cx="4650300" cy="7695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lang="pt-BR" sz="2000">
                <a:solidFill>
                  <a:schemeClr val="lt1"/>
                </a:solidFill>
                <a:latin typeface="REM"/>
                <a:ea typeface="REM"/>
                <a:cs typeface="REM"/>
                <a:sym typeface="REM"/>
              </a:rPr>
              <a:t>Inteligência Artificial</a:t>
            </a:r>
            <a:endParaRPr b="1" sz="2000">
              <a:solidFill>
                <a:schemeClr val="lt1"/>
              </a:solidFill>
              <a:latin typeface="REM"/>
              <a:ea typeface="REM"/>
              <a:cs typeface="REM"/>
              <a:sym typeface="REM"/>
            </a:endParaRPr>
          </a:p>
        </p:txBody>
      </p:sp>
      <p:sp>
        <p:nvSpPr>
          <p:cNvPr id="104" name="Google Shape;104;p31"/>
          <p:cNvSpPr txBox="1"/>
          <p:nvPr/>
        </p:nvSpPr>
        <p:spPr>
          <a:xfrm>
            <a:off x="571400" y="2762200"/>
            <a:ext cx="2091300" cy="328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lang="pt-BR" sz="1200">
                <a:solidFill>
                  <a:schemeClr val="lt1"/>
                </a:solidFill>
                <a:latin typeface="REM ExtraLight"/>
                <a:ea typeface="REM ExtraLight"/>
                <a:cs typeface="REM ExtraLight"/>
                <a:sym typeface="REM ExtraLight"/>
              </a:rPr>
              <a:t>Treinamento</a:t>
            </a:r>
            <a:endParaRPr sz="1200">
              <a:solidFill>
                <a:schemeClr val="lt1"/>
              </a:solidFill>
              <a:latin typeface="REM ExtraLight"/>
              <a:ea typeface="REM ExtraLight"/>
              <a:cs typeface="REM ExtraLight"/>
              <a:sym typeface="REM ExtraLight"/>
            </a:endParaRPr>
          </a:p>
        </p:txBody>
      </p:sp>
      <p:pic>
        <p:nvPicPr>
          <p:cNvPr id="105" name="Google Shape;105;p31" title="Logo-Cortex-25-Bco.png"/>
          <p:cNvPicPr preferRelativeResize="0"/>
          <p:nvPr/>
        </p:nvPicPr>
        <p:blipFill>
          <a:blip r:embed="rId4">
            <a:alphaModFix/>
          </a:blip>
          <a:stretch>
            <a:fillRect/>
          </a:stretch>
        </p:blipFill>
        <p:spPr>
          <a:xfrm>
            <a:off x="571400" y="1113400"/>
            <a:ext cx="1440249" cy="288050"/>
          </a:xfrm>
          <a:prstGeom prst="rect">
            <a:avLst/>
          </a:prstGeom>
          <a:noFill/>
          <a:ln>
            <a:noFill/>
          </a:ln>
        </p:spPr>
      </p:pic>
      <p:sp>
        <p:nvSpPr>
          <p:cNvPr id="106" name="Google Shape;106;p31"/>
          <p:cNvSpPr txBox="1"/>
          <p:nvPr/>
        </p:nvSpPr>
        <p:spPr>
          <a:xfrm>
            <a:off x="949100" y="1453377"/>
            <a:ext cx="2091300" cy="32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pt-BR" sz="900">
                <a:solidFill>
                  <a:schemeClr val="lt1"/>
                </a:solidFill>
                <a:latin typeface="REM Light"/>
                <a:ea typeface="REM Light"/>
                <a:cs typeface="REM Light"/>
                <a:sym typeface="REM Light"/>
              </a:rPr>
              <a:t>Made for humans,</a:t>
            </a:r>
            <a:endParaRPr sz="900">
              <a:solidFill>
                <a:schemeClr val="lt1"/>
              </a:solidFill>
              <a:latin typeface="REM Light"/>
              <a:ea typeface="REM Light"/>
              <a:cs typeface="REM Light"/>
              <a:sym typeface="REM Light"/>
            </a:endParaRPr>
          </a:p>
          <a:p>
            <a:pPr indent="0" lvl="0" marL="0" marR="0" rtl="0" algn="l">
              <a:lnSpc>
                <a:spcPct val="100000"/>
              </a:lnSpc>
              <a:spcBef>
                <a:spcPts val="0"/>
              </a:spcBef>
              <a:spcAft>
                <a:spcPts val="0"/>
              </a:spcAft>
              <a:buNone/>
            </a:pPr>
            <a:r>
              <a:rPr lang="pt-BR" sz="900">
                <a:solidFill>
                  <a:schemeClr val="accent3"/>
                </a:solidFill>
                <a:latin typeface="REM Medium"/>
                <a:ea typeface="REM Medium"/>
                <a:cs typeface="REM Medium"/>
                <a:sym typeface="REM Medium"/>
              </a:rPr>
              <a:t>powered by AI</a:t>
            </a:r>
            <a:endParaRPr sz="900">
              <a:solidFill>
                <a:schemeClr val="accent3"/>
              </a:solidFill>
              <a:latin typeface="REM Medium"/>
              <a:ea typeface="REM Medium"/>
              <a:cs typeface="REM Medium"/>
              <a:sym typeface="REM Medium"/>
            </a:endParaRPr>
          </a:p>
        </p:txBody>
      </p:sp>
      <p:pic>
        <p:nvPicPr>
          <p:cNvPr id="107" name="Google Shape;107;p31" title="IMG_9128.JPG"/>
          <p:cNvPicPr preferRelativeResize="0"/>
          <p:nvPr/>
        </p:nvPicPr>
        <p:blipFill>
          <a:blip r:embed="rId5">
            <a:alphaModFix/>
          </a:blip>
          <a:stretch>
            <a:fillRect/>
          </a:stretch>
        </p:blipFill>
        <p:spPr>
          <a:xfrm>
            <a:off x="715125" y="3960200"/>
            <a:ext cx="408899" cy="4088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213D"/>
        </a:solidFill>
      </p:bgPr>
    </p:bg>
    <p:spTree>
      <p:nvGrpSpPr>
        <p:cNvPr id="111" name="Shape 111"/>
        <p:cNvGrpSpPr/>
        <p:nvPr/>
      </p:nvGrpSpPr>
      <p:grpSpPr>
        <a:xfrm>
          <a:off x="0" y="0"/>
          <a:ext cx="0" cy="0"/>
          <a:chOff x="0" y="0"/>
          <a:chExt cx="0" cy="0"/>
        </a:xfrm>
      </p:grpSpPr>
      <p:sp>
        <p:nvSpPr>
          <p:cNvPr id="112" name="Google Shape;112;p32"/>
          <p:cNvSpPr txBox="1"/>
          <p:nvPr/>
        </p:nvSpPr>
        <p:spPr>
          <a:xfrm>
            <a:off x="829100" y="2343350"/>
            <a:ext cx="7350600" cy="3537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1100"/>
              <a:buFont typeface="Arial"/>
              <a:buNone/>
            </a:pPr>
            <a:r>
              <a:rPr lang="pt-BR">
                <a:solidFill>
                  <a:schemeClr val="lt1"/>
                </a:solidFill>
                <a:latin typeface="REM"/>
                <a:ea typeface="REM"/>
                <a:cs typeface="REM"/>
                <a:sym typeface="REM"/>
              </a:rPr>
              <a:t>Parte 1: entender como LLMs funcionam e quais são seus limites reais.</a:t>
            </a:r>
            <a:endParaRPr>
              <a:solidFill>
                <a:schemeClr val="lt1"/>
              </a:solidFill>
              <a:latin typeface="REM"/>
              <a:ea typeface="REM"/>
              <a:cs typeface="REM"/>
              <a:sym typeface="REM"/>
            </a:endParaRPr>
          </a:p>
          <a:p>
            <a:pPr indent="0" lvl="0" marL="0" rtl="0" algn="l">
              <a:lnSpc>
                <a:spcPct val="150000"/>
              </a:lnSpc>
              <a:spcBef>
                <a:spcPts val="0"/>
              </a:spcBef>
              <a:spcAft>
                <a:spcPts val="0"/>
              </a:spcAft>
              <a:buClr>
                <a:schemeClr val="dk1"/>
              </a:buClr>
              <a:buSzPts val="1100"/>
              <a:buFont typeface="Arial"/>
              <a:buNone/>
            </a:pPr>
            <a:r>
              <a:rPr lang="pt-BR">
                <a:solidFill>
                  <a:schemeClr val="lt1"/>
                </a:solidFill>
                <a:latin typeface="REM"/>
                <a:ea typeface="REM"/>
                <a:cs typeface="REM"/>
                <a:sym typeface="REM"/>
              </a:rPr>
              <a:t>Parte 2: decidir como usar LLMs em sistemas reais, com qualidade, custo, segurança e responsabilidade.</a:t>
            </a:r>
            <a:endParaRPr>
              <a:solidFill>
                <a:schemeClr val="lt1"/>
              </a:solidFill>
              <a:latin typeface="REM"/>
              <a:ea typeface="REM"/>
              <a:cs typeface="REM"/>
              <a:sym typeface="REM"/>
            </a:endParaRPr>
          </a:p>
          <a:p>
            <a:pPr indent="0" lvl="0" marL="0" rtl="0" algn="l">
              <a:lnSpc>
                <a:spcPct val="150000"/>
              </a:lnSpc>
              <a:spcBef>
                <a:spcPts val="0"/>
              </a:spcBef>
              <a:spcAft>
                <a:spcPts val="0"/>
              </a:spcAft>
              <a:buNone/>
            </a:pPr>
            <a:r>
              <a:t/>
            </a:r>
            <a:endParaRPr>
              <a:solidFill>
                <a:schemeClr val="lt1"/>
              </a:solidFill>
              <a:latin typeface="REM"/>
              <a:ea typeface="REM"/>
              <a:cs typeface="REM"/>
              <a:sym typeface="REM"/>
            </a:endParaRPr>
          </a:p>
          <a:p>
            <a:pPr indent="0" lvl="0" marL="0" marR="0" rtl="0" algn="l">
              <a:lnSpc>
                <a:spcPct val="150000"/>
              </a:lnSpc>
              <a:spcBef>
                <a:spcPts val="0"/>
              </a:spcBef>
              <a:spcAft>
                <a:spcPts val="0"/>
              </a:spcAft>
              <a:buNone/>
            </a:pPr>
            <a:r>
              <a:t/>
            </a:r>
            <a:endParaRPr>
              <a:solidFill>
                <a:schemeClr val="lt1"/>
              </a:solidFill>
              <a:latin typeface="REM"/>
              <a:ea typeface="REM"/>
              <a:cs typeface="REM"/>
              <a:sym typeface="REM"/>
            </a:endParaRPr>
          </a:p>
        </p:txBody>
      </p:sp>
      <p:pic>
        <p:nvPicPr>
          <p:cNvPr id="113" name="Google Shape;113;p32" title="Logo-Cortex.png"/>
          <p:cNvPicPr preferRelativeResize="0"/>
          <p:nvPr/>
        </p:nvPicPr>
        <p:blipFill>
          <a:blip r:embed="rId3">
            <a:alphaModFix/>
          </a:blip>
          <a:stretch>
            <a:fillRect/>
          </a:stretch>
        </p:blipFill>
        <p:spPr>
          <a:xfrm>
            <a:off x="8293125" y="4230150"/>
            <a:ext cx="261725" cy="255825"/>
          </a:xfrm>
          <a:prstGeom prst="rect">
            <a:avLst/>
          </a:prstGeom>
          <a:noFill/>
          <a:ln>
            <a:noFill/>
          </a:ln>
        </p:spPr>
      </p:pic>
      <p:cxnSp>
        <p:nvCxnSpPr>
          <p:cNvPr id="114" name="Google Shape;114;p32"/>
          <p:cNvCxnSpPr/>
          <p:nvPr/>
        </p:nvCxnSpPr>
        <p:spPr>
          <a:xfrm flipH="1">
            <a:off x="709875" y="2259850"/>
            <a:ext cx="1200" cy="1003200"/>
          </a:xfrm>
          <a:prstGeom prst="straightConnector1">
            <a:avLst/>
          </a:prstGeom>
          <a:noFill/>
          <a:ln cap="flat" cmpd="sng" w="28575">
            <a:solidFill>
              <a:schemeClr val="lt2"/>
            </a:solidFill>
            <a:prstDash val="solid"/>
            <a:round/>
            <a:headEnd len="med" w="med" type="oval"/>
            <a:tailEnd len="med" w="med" type="oval"/>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3"/>
          <p:cNvSpPr txBox="1"/>
          <p:nvPr/>
        </p:nvSpPr>
        <p:spPr>
          <a:xfrm>
            <a:off x="571400" y="4132275"/>
            <a:ext cx="73506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chemeClr val="lt1"/>
                </a:solidFill>
                <a:latin typeface="REM"/>
                <a:ea typeface="REM"/>
                <a:cs typeface="REM"/>
                <a:sym typeface="REM"/>
              </a:rPr>
              <a:t>Arquiteturas</a:t>
            </a:r>
            <a:endParaRPr sz="2300">
              <a:solidFill>
                <a:schemeClr val="lt1"/>
              </a:solidFill>
              <a:latin typeface="REM ExtraBold"/>
              <a:ea typeface="REM ExtraBold"/>
              <a:cs typeface="REM ExtraBold"/>
              <a:sym typeface="REM ExtraBold"/>
            </a:endParaRPr>
          </a:p>
          <a:p>
            <a:pPr indent="0" lvl="0" marL="0" marR="0" rtl="0" algn="l">
              <a:lnSpc>
                <a:spcPct val="100000"/>
              </a:lnSpc>
              <a:spcBef>
                <a:spcPts val="0"/>
              </a:spcBef>
              <a:spcAft>
                <a:spcPts val="0"/>
              </a:spcAft>
              <a:buNone/>
            </a:pPr>
            <a:r>
              <a:t/>
            </a:r>
            <a:endParaRPr sz="2300">
              <a:solidFill>
                <a:schemeClr val="lt1"/>
              </a:solidFill>
              <a:latin typeface="REM"/>
              <a:ea typeface="REM"/>
              <a:cs typeface="REM"/>
              <a:sym typeface="REM"/>
            </a:endParaRPr>
          </a:p>
        </p:txBody>
      </p:sp>
      <p:pic>
        <p:nvPicPr>
          <p:cNvPr id="120" name="Google Shape;120;p33" title="Logo-Cortex.png"/>
          <p:cNvPicPr preferRelativeResize="0"/>
          <p:nvPr/>
        </p:nvPicPr>
        <p:blipFill>
          <a:blip r:embed="rId3">
            <a:alphaModFix/>
          </a:blip>
          <a:stretch>
            <a:fillRect/>
          </a:stretch>
        </p:blipFill>
        <p:spPr>
          <a:xfrm>
            <a:off x="8293125" y="4230150"/>
            <a:ext cx="261725" cy="255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34"/>
          <p:cNvSpPr txBox="1"/>
          <p:nvPr/>
        </p:nvSpPr>
        <p:spPr>
          <a:xfrm>
            <a:off x="571400" y="558475"/>
            <a:ext cx="57654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Tools</a:t>
            </a:r>
            <a:endParaRPr b="1" sz="2500">
              <a:solidFill>
                <a:srgbClr val="27213D"/>
              </a:solidFill>
              <a:latin typeface="REM"/>
              <a:ea typeface="REM"/>
              <a:cs typeface="REM"/>
              <a:sym typeface="REM"/>
            </a:endParaRPr>
          </a:p>
        </p:txBody>
      </p:sp>
      <p:pic>
        <p:nvPicPr>
          <p:cNvPr id="126" name="Google Shape;126;p34"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127" name="Google Shape;127;p34"/>
          <p:cNvSpPr txBox="1"/>
          <p:nvPr/>
        </p:nvSpPr>
        <p:spPr>
          <a:xfrm>
            <a:off x="571400" y="1226100"/>
            <a:ext cx="7218300" cy="3170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900">
                <a:latin typeface="REM"/>
                <a:ea typeface="REM"/>
                <a:cs typeface="REM"/>
                <a:sym typeface="REM"/>
              </a:rPr>
              <a:t>LLM puro é o modelo pré-treinado, com seus pesos aprendidos durante o treinamento, operando apenas sobre o contexto enviado no prompt.</a:t>
            </a:r>
            <a:endParaRPr sz="900">
              <a:latin typeface="REM"/>
              <a:ea typeface="REM"/>
              <a:cs typeface="REM"/>
              <a:sym typeface="REM"/>
            </a:endParaRPr>
          </a:p>
          <a:p>
            <a:pPr indent="0" lvl="0" marL="0" rtl="0" algn="l">
              <a:lnSpc>
                <a:spcPct val="150000"/>
              </a:lnSpc>
              <a:spcBef>
                <a:spcPts val="1200"/>
              </a:spcBef>
              <a:spcAft>
                <a:spcPts val="0"/>
              </a:spcAft>
              <a:buNone/>
            </a:pPr>
            <a:r>
              <a:rPr lang="pt-BR" sz="900">
                <a:latin typeface="REM"/>
                <a:ea typeface="REM"/>
                <a:cs typeface="REM"/>
                <a:sym typeface="REM"/>
              </a:rPr>
              <a:t>Ele </a:t>
            </a:r>
            <a:r>
              <a:rPr b="1" lang="pt-BR" sz="900">
                <a:latin typeface="REM"/>
                <a:ea typeface="REM"/>
                <a:cs typeface="REM"/>
                <a:sym typeface="REM"/>
              </a:rPr>
              <a:t>não executa lógica externa,</a:t>
            </a:r>
            <a:r>
              <a:rPr lang="pt-BR" sz="900">
                <a:latin typeface="REM"/>
                <a:ea typeface="REM"/>
                <a:cs typeface="REM"/>
                <a:sym typeface="REM"/>
              </a:rPr>
              <a:t> apenas raciocina em linguagem.</a:t>
            </a:r>
            <a:endParaRPr sz="900">
              <a:latin typeface="REM"/>
              <a:ea typeface="REM"/>
              <a:cs typeface="REM"/>
              <a:sym typeface="REM"/>
            </a:endParaRPr>
          </a:p>
          <a:p>
            <a:pPr indent="0" lvl="0" marL="0" rtl="0" algn="l">
              <a:lnSpc>
                <a:spcPct val="150000"/>
              </a:lnSpc>
              <a:spcBef>
                <a:spcPts val="1200"/>
              </a:spcBef>
              <a:spcAft>
                <a:spcPts val="0"/>
              </a:spcAft>
              <a:buNone/>
            </a:pPr>
            <a:r>
              <a:rPr lang="pt-BR" sz="900">
                <a:latin typeface="REM"/>
                <a:ea typeface="REM"/>
                <a:cs typeface="REM"/>
                <a:sym typeface="REM"/>
              </a:rPr>
              <a:t>Quando o produto precisa:</a:t>
            </a:r>
            <a:endParaRPr sz="900">
              <a:latin typeface="REM"/>
              <a:ea typeface="REM"/>
              <a:cs typeface="REM"/>
              <a:sym typeface="REM"/>
            </a:endParaRPr>
          </a:p>
          <a:p>
            <a:pPr indent="-285750" lvl="0" marL="457200" rtl="0" algn="l">
              <a:lnSpc>
                <a:spcPct val="150000"/>
              </a:lnSpc>
              <a:spcBef>
                <a:spcPts val="1200"/>
              </a:spcBef>
              <a:spcAft>
                <a:spcPts val="0"/>
              </a:spcAft>
              <a:buSzPts val="900"/>
              <a:buFont typeface="REM"/>
              <a:buChar char="●"/>
            </a:pPr>
            <a:r>
              <a:rPr lang="pt-BR" sz="900">
                <a:latin typeface="REM"/>
                <a:ea typeface="REM"/>
                <a:cs typeface="REM"/>
                <a:sym typeface="REM"/>
              </a:rPr>
              <a:t>Acessar dados atualizados</a:t>
            </a:r>
            <a:endParaRPr sz="900">
              <a:latin typeface="REM"/>
              <a:ea typeface="REM"/>
              <a:cs typeface="REM"/>
              <a:sym typeface="REM"/>
            </a:endParaRPr>
          </a:p>
          <a:p>
            <a:pPr indent="-285750" lvl="0" marL="457200" rtl="0" algn="l">
              <a:lnSpc>
                <a:spcPct val="150000"/>
              </a:lnSpc>
              <a:spcBef>
                <a:spcPts val="0"/>
              </a:spcBef>
              <a:spcAft>
                <a:spcPts val="0"/>
              </a:spcAft>
              <a:buSzPts val="900"/>
              <a:buFont typeface="REM"/>
              <a:buChar char="●"/>
            </a:pPr>
            <a:r>
              <a:rPr lang="pt-BR" sz="900">
                <a:latin typeface="REM"/>
                <a:ea typeface="REM"/>
                <a:cs typeface="REM"/>
                <a:sym typeface="REM"/>
              </a:rPr>
              <a:t>Consultar informação privada</a:t>
            </a:r>
            <a:endParaRPr sz="900">
              <a:latin typeface="REM"/>
              <a:ea typeface="REM"/>
              <a:cs typeface="REM"/>
              <a:sym typeface="REM"/>
            </a:endParaRPr>
          </a:p>
          <a:p>
            <a:pPr indent="-285750" lvl="0" marL="457200" rtl="0" algn="l">
              <a:lnSpc>
                <a:spcPct val="150000"/>
              </a:lnSpc>
              <a:spcBef>
                <a:spcPts val="0"/>
              </a:spcBef>
              <a:spcAft>
                <a:spcPts val="0"/>
              </a:spcAft>
              <a:buSzPts val="900"/>
              <a:buFont typeface="REM"/>
              <a:buChar char="●"/>
            </a:pPr>
            <a:r>
              <a:rPr lang="pt-BR" sz="900">
                <a:latin typeface="REM"/>
                <a:ea typeface="REM"/>
                <a:cs typeface="REM"/>
                <a:sym typeface="REM"/>
              </a:rPr>
              <a:t>Executar ação no sistema</a:t>
            </a:r>
            <a:endParaRPr sz="900">
              <a:latin typeface="REM"/>
              <a:ea typeface="REM"/>
              <a:cs typeface="REM"/>
              <a:sym typeface="REM"/>
            </a:endParaRPr>
          </a:p>
          <a:p>
            <a:pPr indent="-285750" lvl="0" marL="457200" rtl="0" algn="l">
              <a:lnSpc>
                <a:spcPct val="150000"/>
              </a:lnSpc>
              <a:spcBef>
                <a:spcPts val="0"/>
              </a:spcBef>
              <a:spcAft>
                <a:spcPts val="0"/>
              </a:spcAft>
              <a:buSzPts val="900"/>
              <a:buFont typeface="REM"/>
              <a:buChar char="●"/>
            </a:pPr>
            <a:r>
              <a:rPr lang="pt-BR" sz="900">
                <a:latin typeface="REM"/>
                <a:ea typeface="REM"/>
                <a:cs typeface="REM"/>
                <a:sym typeface="REM"/>
              </a:rPr>
              <a:t>Tomar decisão com base em dado externo</a:t>
            </a:r>
            <a:endParaRPr sz="900">
              <a:latin typeface="REM"/>
              <a:ea typeface="REM"/>
              <a:cs typeface="REM"/>
              <a:sym typeface="REM"/>
            </a:endParaRPr>
          </a:p>
          <a:p>
            <a:pPr indent="-285750" lvl="0" marL="457200" rtl="0" algn="l">
              <a:lnSpc>
                <a:spcPct val="150000"/>
              </a:lnSpc>
              <a:spcBef>
                <a:spcPts val="0"/>
              </a:spcBef>
              <a:spcAft>
                <a:spcPts val="0"/>
              </a:spcAft>
              <a:buSzPts val="900"/>
              <a:buFont typeface="REM"/>
              <a:buChar char="●"/>
            </a:pPr>
            <a:r>
              <a:rPr lang="pt-BR" sz="900">
                <a:latin typeface="REM"/>
                <a:ea typeface="REM"/>
                <a:cs typeface="REM"/>
                <a:sym typeface="REM"/>
              </a:rPr>
              <a:t>Integrar com APIs</a:t>
            </a:r>
            <a:endParaRPr sz="900">
              <a:latin typeface="REM"/>
              <a:ea typeface="REM"/>
              <a:cs typeface="REM"/>
              <a:sym typeface="REM"/>
            </a:endParaRPr>
          </a:p>
          <a:p>
            <a:pPr indent="0" lvl="0" marL="0" rtl="0" algn="l">
              <a:lnSpc>
                <a:spcPct val="150000"/>
              </a:lnSpc>
              <a:spcBef>
                <a:spcPts val="1200"/>
              </a:spcBef>
              <a:spcAft>
                <a:spcPts val="0"/>
              </a:spcAft>
              <a:buNone/>
            </a:pPr>
            <a:r>
              <a:rPr lang="pt-BR" sz="900">
                <a:latin typeface="REM"/>
                <a:ea typeface="REM"/>
                <a:cs typeface="REM"/>
                <a:sym typeface="REM"/>
              </a:rPr>
              <a:t>É aqui que entram as </a:t>
            </a:r>
            <a:r>
              <a:rPr b="1" lang="pt-BR" sz="900">
                <a:latin typeface="REM"/>
                <a:ea typeface="REM"/>
                <a:cs typeface="REM"/>
                <a:sym typeface="REM"/>
              </a:rPr>
              <a:t>ferramentas (tools).</a:t>
            </a:r>
            <a:endParaRPr b="1" sz="900">
              <a:latin typeface="REM"/>
              <a:ea typeface="REM"/>
              <a:cs typeface="REM"/>
              <a:sym typeface="REM"/>
            </a:endParaRPr>
          </a:p>
          <a:p>
            <a:pPr indent="0" lvl="0" marL="0" rtl="0" algn="l">
              <a:lnSpc>
                <a:spcPct val="150000"/>
              </a:lnSpc>
              <a:spcBef>
                <a:spcPts val="1200"/>
              </a:spcBef>
              <a:spcAft>
                <a:spcPts val="1200"/>
              </a:spcAft>
              <a:buNone/>
            </a:pPr>
            <a:r>
              <a:t/>
            </a:r>
            <a:endParaRPr sz="900">
              <a:latin typeface="REM"/>
              <a:ea typeface="REM"/>
              <a:cs typeface="REM"/>
              <a:sym typeface="RE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35"/>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O que são Ferramentas (Tools / Function Calling)?</a:t>
            </a:r>
            <a:endParaRPr b="1" sz="2500">
              <a:solidFill>
                <a:srgbClr val="27213D"/>
              </a:solidFill>
              <a:latin typeface="REM"/>
              <a:ea typeface="REM"/>
              <a:cs typeface="REM"/>
              <a:sym typeface="REM"/>
            </a:endParaRPr>
          </a:p>
        </p:txBody>
      </p:sp>
      <p:pic>
        <p:nvPicPr>
          <p:cNvPr id="133" name="Google Shape;133;p35"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134" name="Google Shape;134;p35"/>
          <p:cNvSpPr txBox="1"/>
          <p:nvPr/>
        </p:nvSpPr>
        <p:spPr>
          <a:xfrm>
            <a:off x="571400" y="1304025"/>
            <a:ext cx="4000500" cy="1954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Ferramentas são</a:t>
            </a:r>
            <a:r>
              <a:rPr b="1" lang="pt-BR" sz="1000">
                <a:latin typeface="REM"/>
                <a:ea typeface="REM"/>
                <a:cs typeface="REM"/>
                <a:sym typeface="REM"/>
              </a:rPr>
              <a:t> funções externas </a:t>
            </a:r>
            <a:r>
              <a:rPr lang="pt-BR" sz="1000">
                <a:latin typeface="REM"/>
                <a:ea typeface="REM"/>
                <a:cs typeface="REM"/>
                <a:sym typeface="REM"/>
              </a:rPr>
              <a:t>que o modelo pode decidir chamar.</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O LLM não executa a lógica.</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Ele apenas decide qual ferramenta usar e com quais parâmetros.</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
        <p:nvSpPr>
          <p:cNvPr id="135" name="Google Shape;135;p35"/>
          <p:cNvSpPr txBox="1"/>
          <p:nvPr/>
        </p:nvSpPr>
        <p:spPr>
          <a:xfrm>
            <a:off x="5127150" y="1280913"/>
            <a:ext cx="3648600" cy="173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pt-BR" sz="1000">
                <a:latin typeface="REM"/>
                <a:ea typeface="REM"/>
                <a:cs typeface="REM"/>
                <a:sym typeface="REM"/>
              </a:rPr>
              <a:t>Exemplos de Tools:</a:t>
            </a:r>
            <a:endParaRPr sz="1000">
              <a:latin typeface="REM"/>
              <a:ea typeface="REM"/>
              <a:cs typeface="REM"/>
              <a:sym typeface="REM"/>
            </a:endParaRPr>
          </a:p>
          <a:p>
            <a:pPr indent="-292100" lvl="0" marL="457200" rtl="0" algn="l">
              <a:lnSpc>
                <a:spcPct val="115000"/>
              </a:lnSpc>
              <a:spcBef>
                <a:spcPts val="1200"/>
              </a:spcBef>
              <a:spcAft>
                <a:spcPts val="0"/>
              </a:spcAft>
              <a:buSzPts val="1000"/>
              <a:buFont typeface="REM"/>
              <a:buChar char="●"/>
            </a:pPr>
            <a:r>
              <a:rPr lang="pt-BR" sz="1000">
                <a:latin typeface="REM"/>
                <a:ea typeface="REM"/>
                <a:cs typeface="REM"/>
                <a:sym typeface="REM"/>
              </a:rPr>
              <a:t>API de Banco de Dados</a:t>
            </a:r>
            <a:endParaRPr sz="1000">
              <a:latin typeface="REM"/>
              <a:ea typeface="REM"/>
              <a:cs typeface="REM"/>
              <a:sym typeface="REM"/>
            </a:endParaRPr>
          </a:p>
          <a:p>
            <a:pPr indent="-292100" lvl="0" marL="457200" rtl="0" algn="l">
              <a:lnSpc>
                <a:spcPct val="115000"/>
              </a:lnSpc>
              <a:spcBef>
                <a:spcPts val="0"/>
              </a:spcBef>
              <a:spcAft>
                <a:spcPts val="0"/>
              </a:spcAft>
              <a:buSzPts val="1000"/>
              <a:buFont typeface="REM"/>
              <a:buChar char="●"/>
            </a:pPr>
            <a:r>
              <a:rPr lang="pt-BR" sz="1000">
                <a:latin typeface="REM"/>
                <a:ea typeface="REM"/>
                <a:cs typeface="REM"/>
                <a:sym typeface="REM"/>
              </a:rPr>
              <a:t>Busca Web</a:t>
            </a:r>
            <a:endParaRPr sz="1000">
              <a:latin typeface="REM"/>
              <a:ea typeface="REM"/>
              <a:cs typeface="REM"/>
              <a:sym typeface="REM"/>
            </a:endParaRPr>
          </a:p>
          <a:p>
            <a:pPr indent="-292100" lvl="0" marL="457200" rtl="0" algn="l">
              <a:lnSpc>
                <a:spcPct val="115000"/>
              </a:lnSpc>
              <a:spcBef>
                <a:spcPts val="0"/>
              </a:spcBef>
              <a:spcAft>
                <a:spcPts val="0"/>
              </a:spcAft>
              <a:buSzPts val="1000"/>
              <a:buFont typeface="REM"/>
              <a:buChar char="●"/>
            </a:pPr>
            <a:r>
              <a:rPr lang="pt-BR" sz="1000">
                <a:latin typeface="REM"/>
                <a:ea typeface="REM"/>
                <a:cs typeface="REM"/>
                <a:sym typeface="REM"/>
              </a:rPr>
              <a:t>Busca Vetorial (RAG)</a:t>
            </a:r>
            <a:endParaRPr sz="1000">
              <a:latin typeface="REM"/>
              <a:ea typeface="REM"/>
              <a:cs typeface="REM"/>
              <a:sym typeface="REM"/>
            </a:endParaRPr>
          </a:p>
          <a:p>
            <a:pPr indent="-292100" lvl="0" marL="457200" rtl="0" algn="l">
              <a:lnSpc>
                <a:spcPct val="115000"/>
              </a:lnSpc>
              <a:spcBef>
                <a:spcPts val="0"/>
              </a:spcBef>
              <a:spcAft>
                <a:spcPts val="0"/>
              </a:spcAft>
              <a:buSzPts val="1000"/>
              <a:buFont typeface="REM"/>
              <a:buChar char="●"/>
            </a:pPr>
            <a:r>
              <a:rPr lang="pt-BR" sz="1000">
                <a:latin typeface="REM"/>
                <a:ea typeface="REM"/>
                <a:cs typeface="REM"/>
                <a:sym typeface="REM"/>
              </a:rPr>
              <a:t>Ferramentas de Ação</a:t>
            </a:r>
            <a:endParaRPr sz="1000">
              <a:latin typeface="REM"/>
              <a:ea typeface="REM"/>
              <a:cs typeface="REM"/>
              <a:sym typeface="REM"/>
            </a:endParaRPr>
          </a:p>
          <a:p>
            <a:pPr indent="-292100" lvl="0" marL="457200" rtl="0" algn="l">
              <a:lnSpc>
                <a:spcPct val="115000"/>
              </a:lnSpc>
              <a:spcBef>
                <a:spcPts val="0"/>
              </a:spcBef>
              <a:spcAft>
                <a:spcPts val="0"/>
              </a:spcAft>
              <a:buSzPts val="1000"/>
              <a:buFont typeface="REM"/>
              <a:buChar char="●"/>
            </a:pPr>
            <a:r>
              <a:rPr lang="pt-BR" sz="1000">
                <a:latin typeface="REM"/>
                <a:ea typeface="REM"/>
                <a:cs typeface="REM"/>
                <a:sym typeface="REM"/>
              </a:rPr>
              <a:t>Ferramentas Determinísticas (Código, Calculadora, etc.)</a:t>
            </a:r>
            <a:endParaRPr sz="1000">
              <a:latin typeface="REM"/>
              <a:ea typeface="REM"/>
              <a:cs typeface="REM"/>
              <a:sym typeface="REM"/>
            </a:endParaRPr>
          </a:p>
          <a:p>
            <a:pPr indent="-292100" lvl="0" marL="457200" rtl="0" algn="l">
              <a:lnSpc>
                <a:spcPct val="115000"/>
              </a:lnSpc>
              <a:spcBef>
                <a:spcPts val="0"/>
              </a:spcBef>
              <a:spcAft>
                <a:spcPts val="0"/>
              </a:spcAft>
              <a:buSzPts val="1000"/>
              <a:buFont typeface="REM"/>
              <a:buChar char="●"/>
            </a:pPr>
            <a:r>
              <a:rPr lang="pt-BR" sz="1000">
                <a:latin typeface="REM"/>
                <a:ea typeface="REM"/>
                <a:cs typeface="REM"/>
                <a:sym typeface="REM"/>
              </a:rPr>
              <a:t>Ferramentas de Validação</a:t>
            </a:r>
            <a:endParaRPr sz="1000">
              <a:latin typeface="REM"/>
              <a:ea typeface="REM"/>
              <a:cs typeface="REM"/>
              <a:sym typeface="REM"/>
            </a:endParaRPr>
          </a:p>
        </p:txBody>
      </p:sp>
      <p:cxnSp>
        <p:nvCxnSpPr>
          <p:cNvPr id="136" name="Google Shape;136;p35"/>
          <p:cNvCxnSpPr/>
          <p:nvPr/>
        </p:nvCxnSpPr>
        <p:spPr>
          <a:xfrm>
            <a:off x="4733400" y="1268175"/>
            <a:ext cx="0" cy="2316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6"/>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RAG (Retrieval-Augmented Generation)</a:t>
            </a:r>
            <a:endParaRPr b="1" sz="2500">
              <a:solidFill>
                <a:srgbClr val="27213D"/>
              </a:solidFill>
              <a:latin typeface="REM"/>
              <a:ea typeface="REM"/>
              <a:cs typeface="REM"/>
              <a:sym typeface="REM"/>
            </a:endParaRPr>
          </a:p>
        </p:txBody>
      </p:sp>
      <p:pic>
        <p:nvPicPr>
          <p:cNvPr id="142" name="Google Shape;142;p36"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143" name="Google Shape;143;p36"/>
          <p:cNvSpPr txBox="1"/>
          <p:nvPr/>
        </p:nvSpPr>
        <p:spPr>
          <a:xfrm>
            <a:off x="571400" y="1304025"/>
            <a:ext cx="7725300" cy="2493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RAG é uma arquitetura onde o modelo primeiro recupera informações relevantes de uma base externa e depois gera a resposta com base nelas.</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RAG resolve principalmente três coisas:</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1. </a:t>
            </a:r>
            <a:r>
              <a:rPr b="1" lang="pt-BR" sz="1000">
                <a:latin typeface="REM"/>
                <a:ea typeface="REM"/>
                <a:cs typeface="REM"/>
                <a:sym typeface="REM"/>
              </a:rPr>
              <a:t>Factualidade:</a:t>
            </a:r>
            <a:r>
              <a:rPr lang="pt-BR" sz="1000">
                <a:latin typeface="REM"/>
                <a:ea typeface="REM"/>
                <a:cs typeface="REM"/>
                <a:sym typeface="REM"/>
              </a:rPr>
              <a:t> Reduz alucinação porque o modelo responde com base em fonte específica.</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2. </a:t>
            </a:r>
            <a:r>
              <a:rPr b="1" lang="pt-BR" sz="1000">
                <a:latin typeface="REM"/>
                <a:ea typeface="REM"/>
                <a:cs typeface="REM"/>
                <a:sym typeface="REM"/>
              </a:rPr>
              <a:t>Conhecimento Proprietário:</a:t>
            </a:r>
            <a:r>
              <a:rPr lang="pt-BR" sz="1000">
                <a:latin typeface="REM"/>
                <a:ea typeface="REM"/>
                <a:cs typeface="REM"/>
                <a:sym typeface="REM"/>
              </a:rPr>
              <a:t> Permite usar documentos internos, base jurídica, FAQ corporativo, Histórico de cliente, etc.</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3. </a:t>
            </a:r>
            <a:r>
              <a:rPr b="1" lang="pt-BR" sz="1000">
                <a:latin typeface="REM"/>
                <a:ea typeface="REM"/>
                <a:cs typeface="REM"/>
                <a:sym typeface="REM"/>
              </a:rPr>
              <a:t>Atualização Frequente:</a:t>
            </a:r>
            <a:r>
              <a:rPr lang="pt-BR" sz="1000">
                <a:latin typeface="REM"/>
                <a:ea typeface="REM"/>
                <a:cs typeface="REM"/>
                <a:sym typeface="REM"/>
              </a:rPr>
              <a:t> Você atualiza a base e não precisa retreinar modelo.</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7"/>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RAG (Retrieval-Augmented Generation)</a:t>
            </a:r>
            <a:endParaRPr b="1" sz="2500">
              <a:solidFill>
                <a:srgbClr val="27213D"/>
              </a:solidFill>
              <a:latin typeface="REM"/>
              <a:ea typeface="REM"/>
              <a:cs typeface="REM"/>
              <a:sym typeface="REM"/>
            </a:endParaRPr>
          </a:p>
        </p:txBody>
      </p:sp>
      <p:sp>
        <p:nvSpPr>
          <p:cNvPr id="149" name="Google Shape;149;p37"/>
          <p:cNvSpPr/>
          <p:nvPr/>
        </p:nvSpPr>
        <p:spPr>
          <a:xfrm>
            <a:off x="1096825" y="1258263"/>
            <a:ext cx="1766400" cy="609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lt1"/>
                </a:solidFill>
                <a:latin typeface="REM"/>
                <a:ea typeface="REM"/>
                <a:cs typeface="REM"/>
                <a:sym typeface="REM"/>
              </a:rPr>
              <a:t>Recuperação (Retrieval)</a:t>
            </a:r>
            <a:endParaRPr>
              <a:solidFill>
                <a:schemeClr val="lt1"/>
              </a:solidFill>
              <a:latin typeface="REM"/>
              <a:ea typeface="REM"/>
              <a:cs typeface="REM"/>
              <a:sym typeface="REM"/>
            </a:endParaRPr>
          </a:p>
        </p:txBody>
      </p:sp>
      <p:sp>
        <p:nvSpPr>
          <p:cNvPr id="150" name="Google Shape;150;p37"/>
          <p:cNvSpPr/>
          <p:nvPr/>
        </p:nvSpPr>
        <p:spPr>
          <a:xfrm>
            <a:off x="3688800" y="1258263"/>
            <a:ext cx="1766400" cy="609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lt1"/>
                </a:solidFill>
                <a:latin typeface="REM"/>
                <a:ea typeface="REM"/>
                <a:cs typeface="REM"/>
                <a:sym typeface="REM"/>
              </a:rPr>
              <a:t>Aumentado (Augmented)</a:t>
            </a:r>
            <a:endParaRPr>
              <a:solidFill>
                <a:schemeClr val="lt1"/>
              </a:solidFill>
              <a:latin typeface="REM"/>
              <a:ea typeface="REM"/>
              <a:cs typeface="REM"/>
              <a:sym typeface="REM"/>
            </a:endParaRPr>
          </a:p>
        </p:txBody>
      </p:sp>
      <p:sp>
        <p:nvSpPr>
          <p:cNvPr id="151" name="Google Shape;151;p37"/>
          <p:cNvSpPr/>
          <p:nvPr/>
        </p:nvSpPr>
        <p:spPr>
          <a:xfrm>
            <a:off x="6280775" y="1258263"/>
            <a:ext cx="1766400" cy="609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lt1"/>
                </a:solidFill>
                <a:latin typeface="REM"/>
                <a:ea typeface="REM"/>
                <a:cs typeface="REM"/>
                <a:sym typeface="REM"/>
              </a:rPr>
              <a:t>Geração (Generation)</a:t>
            </a:r>
            <a:endParaRPr>
              <a:solidFill>
                <a:schemeClr val="lt1"/>
              </a:solidFill>
              <a:latin typeface="REM"/>
              <a:ea typeface="REM"/>
              <a:cs typeface="REM"/>
              <a:sym typeface="REM"/>
            </a:endParaRPr>
          </a:p>
        </p:txBody>
      </p:sp>
      <p:cxnSp>
        <p:nvCxnSpPr>
          <p:cNvPr id="152" name="Google Shape;152;p37"/>
          <p:cNvCxnSpPr>
            <a:stCxn id="149" idx="3"/>
            <a:endCxn id="150" idx="1"/>
          </p:cNvCxnSpPr>
          <p:nvPr/>
        </p:nvCxnSpPr>
        <p:spPr>
          <a:xfrm>
            <a:off x="2863225" y="1563213"/>
            <a:ext cx="825600" cy="0"/>
          </a:xfrm>
          <a:prstGeom prst="straightConnector1">
            <a:avLst/>
          </a:prstGeom>
          <a:noFill/>
          <a:ln cap="flat" cmpd="sng" w="9525">
            <a:solidFill>
              <a:schemeClr val="dk1"/>
            </a:solidFill>
            <a:prstDash val="solid"/>
            <a:round/>
            <a:headEnd len="med" w="med" type="none"/>
            <a:tailEnd len="med" w="med" type="triangle"/>
          </a:ln>
        </p:spPr>
      </p:cxnSp>
      <p:cxnSp>
        <p:nvCxnSpPr>
          <p:cNvPr id="153" name="Google Shape;153;p37"/>
          <p:cNvCxnSpPr>
            <a:stCxn id="150" idx="3"/>
            <a:endCxn id="151" idx="1"/>
          </p:cNvCxnSpPr>
          <p:nvPr/>
        </p:nvCxnSpPr>
        <p:spPr>
          <a:xfrm>
            <a:off x="5455200" y="1563213"/>
            <a:ext cx="825600" cy="0"/>
          </a:xfrm>
          <a:prstGeom prst="straightConnector1">
            <a:avLst/>
          </a:prstGeom>
          <a:noFill/>
          <a:ln cap="flat" cmpd="sng" w="9525">
            <a:solidFill>
              <a:schemeClr val="dk1"/>
            </a:solidFill>
            <a:prstDash val="solid"/>
            <a:round/>
            <a:headEnd len="med" w="med" type="none"/>
            <a:tailEnd len="med" w="med" type="triangle"/>
          </a:ln>
        </p:spPr>
      </p:cxnSp>
      <p:sp>
        <p:nvSpPr>
          <p:cNvPr id="154" name="Google Shape;154;p37"/>
          <p:cNvSpPr txBox="1"/>
          <p:nvPr/>
        </p:nvSpPr>
        <p:spPr>
          <a:xfrm>
            <a:off x="1096825" y="1958025"/>
            <a:ext cx="1766400" cy="8004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1200"/>
              </a:spcBef>
              <a:spcAft>
                <a:spcPts val="1200"/>
              </a:spcAft>
              <a:buNone/>
            </a:pPr>
            <a:r>
              <a:rPr lang="pt-BR" sz="1000">
                <a:latin typeface="REM"/>
                <a:ea typeface="REM"/>
                <a:cs typeface="REM"/>
                <a:sym typeface="REM"/>
              </a:rPr>
              <a:t>Busca em uma base externa (documentos, base de dados, etc.)</a:t>
            </a:r>
            <a:endParaRPr sz="1000">
              <a:latin typeface="REM"/>
              <a:ea typeface="REM"/>
              <a:cs typeface="REM"/>
              <a:sym typeface="REM"/>
            </a:endParaRPr>
          </a:p>
        </p:txBody>
      </p:sp>
      <p:sp>
        <p:nvSpPr>
          <p:cNvPr id="155" name="Google Shape;155;p37"/>
          <p:cNvSpPr txBox="1"/>
          <p:nvPr/>
        </p:nvSpPr>
        <p:spPr>
          <a:xfrm>
            <a:off x="3688800" y="1958025"/>
            <a:ext cx="1766400" cy="10314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1200"/>
              </a:spcBef>
              <a:spcAft>
                <a:spcPts val="1200"/>
              </a:spcAft>
              <a:buNone/>
            </a:pPr>
            <a:r>
              <a:rPr lang="pt-BR" sz="1000">
                <a:latin typeface="REM"/>
                <a:ea typeface="REM"/>
                <a:cs typeface="REM"/>
                <a:sym typeface="REM"/>
              </a:rPr>
              <a:t>O prompt original é expandido com informações relevantes recuperadas.</a:t>
            </a:r>
            <a:endParaRPr sz="1000">
              <a:latin typeface="REM"/>
              <a:ea typeface="REM"/>
              <a:cs typeface="REM"/>
              <a:sym typeface="REM"/>
            </a:endParaRPr>
          </a:p>
        </p:txBody>
      </p:sp>
      <p:sp>
        <p:nvSpPr>
          <p:cNvPr id="156" name="Google Shape;156;p37"/>
          <p:cNvSpPr txBox="1"/>
          <p:nvPr/>
        </p:nvSpPr>
        <p:spPr>
          <a:xfrm>
            <a:off x="6280775" y="2073525"/>
            <a:ext cx="1766400" cy="3387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1200"/>
              </a:spcBef>
              <a:spcAft>
                <a:spcPts val="1200"/>
              </a:spcAft>
              <a:buNone/>
            </a:pPr>
            <a:r>
              <a:rPr lang="pt-BR" sz="1000">
                <a:latin typeface="REM"/>
                <a:ea typeface="REM"/>
                <a:cs typeface="REM"/>
                <a:sym typeface="REM"/>
              </a:rPr>
              <a:t>Sintetiza a informação</a:t>
            </a:r>
            <a:endParaRPr sz="1000">
              <a:latin typeface="REM"/>
              <a:ea typeface="REM"/>
              <a:cs typeface="REM"/>
              <a:sym typeface="REM"/>
            </a:endParaRPr>
          </a:p>
        </p:txBody>
      </p:sp>
      <p:sp>
        <p:nvSpPr>
          <p:cNvPr id="157" name="Google Shape;157;p37"/>
          <p:cNvSpPr/>
          <p:nvPr/>
        </p:nvSpPr>
        <p:spPr>
          <a:xfrm>
            <a:off x="628438" y="3084175"/>
            <a:ext cx="1395900" cy="6729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1200">
                <a:solidFill>
                  <a:schemeClr val="dk1"/>
                </a:solidFill>
                <a:latin typeface="REM"/>
                <a:ea typeface="REM"/>
                <a:cs typeface="REM"/>
                <a:sym typeface="REM"/>
              </a:rPr>
              <a:t>Pode levar cachorro na piscina?</a:t>
            </a:r>
            <a:endParaRPr sz="1200">
              <a:solidFill>
                <a:schemeClr val="dk1"/>
              </a:solidFill>
              <a:latin typeface="REM"/>
              <a:ea typeface="REM"/>
              <a:cs typeface="REM"/>
              <a:sym typeface="REM"/>
            </a:endParaRPr>
          </a:p>
        </p:txBody>
      </p:sp>
      <p:sp>
        <p:nvSpPr>
          <p:cNvPr id="158" name="Google Shape;158;p37"/>
          <p:cNvSpPr/>
          <p:nvPr/>
        </p:nvSpPr>
        <p:spPr>
          <a:xfrm>
            <a:off x="2335913" y="3335525"/>
            <a:ext cx="3076200" cy="1264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pt-BR" sz="1200">
                <a:solidFill>
                  <a:schemeClr val="dk1"/>
                </a:solidFill>
                <a:latin typeface="REM"/>
                <a:ea typeface="REM"/>
                <a:cs typeface="REM"/>
                <a:sym typeface="REM"/>
              </a:rPr>
              <a:t>Busca no PDF a palavra </a:t>
            </a:r>
            <a:r>
              <a:rPr i="1" lang="pt-BR" sz="1200">
                <a:solidFill>
                  <a:schemeClr val="dk1"/>
                </a:solidFill>
                <a:latin typeface="REM"/>
                <a:ea typeface="REM"/>
                <a:cs typeface="REM"/>
                <a:sym typeface="REM"/>
              </a:rPr>
              <a:t>"piscina"</a:t>
            </a:r>
            <a:r>
              <a:rPr lang="pt-BR" sz="1200">
                <a:solidFill>
                  <a:schemeClr val="dk1"/>
                </a:solidFill>
                <a:latin typeface="REM"/>
                <a:ea typeface="REM"/>
                <a:cs typeface="REM"/>
                <a:sym typeface="REM"/>
              </a:rPr>
              <a:t> e </a:t>
            </a:r>
            <a:r>
              <a:rPr i="1" lang="pt-BR" sz="1200">
                <a:solidFill>
                  <a:schemeClr val="dk1"/>
                </a:solidFill>
                <a:latin typeface="REM"/>
                <a:ea typeface="REM"/>
                <a:cs typeface="REM"/>
                <a:sym typeface="REM"/>
              </a:rPr>
              <a:t>"animais"</a:t>
            </a:r>
            <a:r>
              <a:rPr lang="pt-BR" sz="1200">
                <a:solidFill>
                  <a:schemeClr val="dk1"/>
                </a:solidFill>
                <a:latin typeface="REM"/>
                <a:ea typeface="REM"/>
                <a:cs typeface="REM"/>
                <a:sym typeface="REM"/>
              </a:rPr>
              <a:t>.</a:t>
            </a:r>
            <a:endParaRPr sz="1200">
              <a:solidFill>
                <a:schemeClr val="dk1"/>
              </a:solidFill>
              <a:latin typeface="REM"/>
              <a:ea typeface="REM"/>
              <a:cs typeface="REM"/>
              <a:sym typeface="REM"/>
            </a:endParaRPr>
          </a:p>
          <a:p>
            <a:pPr indent="0" lvl="0" marL="0" rtl="0" algn="ctr">
              <a:lnSpc>
                <a:spcPct val="115000"/>
              </a:lnSpc>
              <a:spcBef>
                <a:spcPts val="0"/>
              </a:spcBef>
              <a:spcAft>
                <a:spcPts val="0"/>
              </a:spcAft>
              <a:buNone/>
            </a:pPr>
            <a:r>
              <a:rPr lang="pt-BR" sz="1200">
                <a:solidFill>
                  <a:schemeClr val="dk1"/>
                </a:solidFill>
                <a:latin typeface="REM"/>
                <a:ea typeface="REM"/>
                <a:cs typeface="REM"/>
                <a:sym typeface="REM"/>
              </a:rPr>
              <a:t>Encontra a frase: </a:t>
            </a:r>
            <a:r>
              <a:rPr i="1" lang="pt-BR" sz="1200">
                <a:solidFill>
                  <a:schemeClr val="dk1"/>
                </a:solidFill>
                <a:latin typeface="REM"/>
                <a:ea typeface="REM"/>
                <a:cs typeface="REM"/>
                <a:sym typeface="REM"/>
              </a:rPr>
              <a:t>"Artigo 12: É proibida a entrada de animais de qualquer porte na área cercada da piscina."</a:t>
            </a:r>
            <a:endParaRPr i="1" sz="1200">
              <a:solidFill>
                <a:schemeClr val="dk1"/>
              </a:solidFill>
              <a:latin typeface="REM"/>
              <a:ea typeface="REM"/>
              <a:cs typeface="REM"/>
              <a:sym typeface="REM"/>
            </a:endParaRPr>
          </a:p>
        </p:txBody>
      </p:sp>
      <p:cxnSp>
        <p:nvCxnSpPr>
          <p:cNvPr id="159" name="Google Shape;159;p37"/>
          <p:cNvCxnSpPr>
            <a:stCxn id="157" idx="3"/>
            <a:endCxn id="158" idx="1"/>
          </p:cNvCxnSpPr>
          <p:nvPr/>
        </p:nvCxnSpPr>
        <p:spPr>
          <a:xfrm>
            <a:off x="2024338" y="3420625"/>
            <a:ext cx="311700" cy="546900"/>
          </a:xfrm>
          <a:prstGeom prst="straightConnector1">
            <a:avLst/>
          </a:prstGeom>
          <a:noFill/>
          <a:ln cap="flat" cmpd="sng" w="9525">
            <a:solidFill>
              <a:schemeClr val="dk1"/>
            </a:solidFill>
            <a:prstDash val="solid"/>
            <a:round/>
            <a:headEnd len="med" w="med" type="none"/>
            <a:tailEnd len="med" w="med" type="triangle"/>
          </a:ln>
        </p:spPr>
      </p:cxnSp>
      <p:sp>
        <p:nvSpPr>
          <p:cNvPr id="160" name="Google Shape;160;p37"/>
          <p:cNvSpPr/>
          <p:nvPr/>
        </p:nvSpPr>
        <p:spPr>
          <a:xfrm>
            <a:off x="5796663" y="3335525"/>
            <a:ext cx="2718900" cy="12642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pt-BR" sz="1200">
                <a:solidFill>
                  <a:schemeClr val="dk1"/>
                </a:solidFill>
                <a:latin typeface="REM"/>
                <a:ea typeface="REM"/>
                <a:cs typeface="REM"/>
                <a:sym typeface="REM"/>
              </a:rPr>
              <a:t>Resposta gerada: </a:t>
            </a:r>
            <a:r>
              <a:rPr lang="pt-BR" sz="1200">
                <a:solidFill>
                  <a:schemeClr val="dk1"/>
                </a:solidFill>
                <a:latin typeface="REM"/>
                <a:ea typeface="REM"/>
                <a:cs typeface="REM"/>
                <a:sym typeface="REM"/>
              </a:rPr>
              <a:t>"De acordo com o Artigo 12 do regimento, não é permitido levar cachorros para a área da piscina."</a:t>
            </a:r>
            <a:endParaRPr i="1" sz="1200">
              <a:solidFill>
                <a:schemeClr val="dk1"/>
              </a:solidFill>
              <a:latin typeface="REM"/>
              <a:ea typeface="REM"/>
              <a:cs typeface="REM"/>
              <a:sym typeface="REM"/>
            </a:endParaRPr>
          </a:p>
        </p:txBody>
      </p:sp>
      <p:cxnSp>
        <p:nvCxnSpPr>
          <p:cNvPr id="161" name="Google Shape;161;p37"/>
          <p:cNvCxnSpPr>
            <a:stCxn id="158" idx="3"/>
            <a:endCxn id="160" idx="1"/>
          </p:cNvCxnSpPr>
          <p:nvPr/>
        </p:nvCxnSpPr>
        <p:spPr>
          <a:xfrm>
            <a:off x="5412113" y="3967625"/>
            <a:ext cx="3846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8"/>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RAG (Retrieval-Augmented Generation)</a:t>
            </a:r>
            <a:endParaRPr b="1" sz="2500">
              <a:solidFill>
                <a:srgbClr val="27213D"/>
              </a:solidFill>
              <a:latin typeface="REM"/>
              <a:ea typeface="REM"/>
              <a:cs typeface="REM"/>
              <a:sym typeface="REM"/>
            </a:endParaRPr>
          </a:p>
        </p:txBody>
      </p:sp>
      <p:pic>
        <p:nvPicPr>
          <p:cNvPr id="167" name="Google Shape;167;p38"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168" name="Google Shape;168;p38"/>
          <p:cNvSpPr txBox="1"/>
          <p:nvPr/>
        </p:nvSpPr>
        <p:spPr>
          <a:xfrm>
            <a:off x="571400" y="1249800"/>
            <a:ext cx="7725300" cy="334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Adicionar RAG implica:</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Pipeline de ingestão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Chunking de documentos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Embeddings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Busca vetorial</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Ranking de relevância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Monitoramento de qualidade de recuperação</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Isso aumenta:</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Complexidade técnica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Latência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Custo por requisição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Necessidade de observabilidade</a:t>
            </a:r>
            <a:endParaRPr sz="1000">
              <a:latin typeface="REM"/>
              <a:ea typeface="REM"/>
              <a:cs typeface="REM"/>
              <a:sym typeface="RE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9"/>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Chunking e Busca Vetorial</a:t>
            </a:r>
            <a:endParaRPr b="1" sz="2500">
              <a:solidFill>
                <a:srgbClr val="27213D"/>
              </a:solidFill>
              <a:latin typeface="REM"/>
              <a:ea typeface="REM"/>
              <a:cs typeface="REM"/>
              <a:sym typeface="REM"/>
            </a:endParaRPr>
          </a:p>
        </p:txBody>
      </p:sp>
      <p:pic>
        <p:nvPicPr>
          <p:cNvPr id="174" name="Google Shape;174;p39"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175" name="Google Shape;175;p39"/>
          <p:cNvSpPr txBox="1"/>
          <p:nvPr/>
        </p:nvSpPr>
        <p:spPr>
          <a:xfrm>
            <a:off x="571400" y="1249800"/>
            <a:ext cx="7725300" cy="3263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Chunking </a:t>
            </a:r>
            <a:r>
              <a:rPr lang="pt-BR" sz="1000">
                <a:latin typeface="REM"/>
                <a:ea typeface="REM"/>
                <a:cs typeface="REM"/>
                <a:sym typeface="REM"/>
              </a:rPr>
              <a:t>é o processo de quebrar documentos grandes em pedaços menores (chunks) antes de indexar no banco vetorial. Porque um LLM não consegue ler 300 páginas de uma vez ou receber um PDF inteiro no contexto. Então dividimos o conteúdo em blocos menores.</a:t>
            </a:r>
            <a:endParaRPr sz="1000">
              <a:latin typeface="REM"/>
              <a:ea typeface="REM"/>
              <a:cs typeface="REM"/>
              <a:sym typeface="REM"/>
            </a:endParaRPr>
          </a:p>
          <a:p>
            <a:pPr indent="0" lvl="0" marL="0" rtl="0" algn="l">
              <a:lnSpc>
                <a:spcPct val="150000"/>
              </a:lnSpc>
              <a:spcBef>
                <a:spcPts val="1200"/>
              </a:spcBef>
              <a:spcAft>
                <a:spcPts val="0"/>
              </a:spcAft>
              <a:buNone/>
            </a:pPr>
            <a:r>
              <a:rPr b="1" lang="pt-BR" sz="1000">
                <a:latin typeface="REM"/>
                <a:ea typeface="REM"/>
                <a:cs typeface="REM"/>
                <a:sym typeface="REM"/>
              </a:rPr>
              <a:t>Busca vetorial</a:t>
            </a:r>
            <a:r>
              <a:rPr lang="pt-BR" sz="1000">
                <a:latin typeface="REM"/>
                <a:ea typeface="REM"/>
                <a:cs typeface="REM"/>
                <a:sym typeface="REM"/>
              </a:rPr>
              <a:t> é o mecanismo que encontra os trechos mais semanticamente similares à pergunta do usuário. </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AutoNum type="arabicPeriod"/>
            </a:pPr>
            <a:r>
              <a:rPr lang="pt-BR" sz="1000">
                <a:latin typeface="REM"/>
                <a:ea typeface="REM"/>
                <a:cs typeface="REM"/>
                <a:sym typeface="REM"/>
              </a:rPr>
              <a:t>Cada chunk vira um vetor numérico (embedding)</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AutoNum type="arabicPeriod"/>
            </a:pPr>
            <a:r>
              <a:rPr lang="pt-BR" sz="1000">
                <a:latin typeface="REM"/>
                <a:ea typeface="REM"/>
                <a:cs typeface="REM"/>
                <a:sym typeface="REM"/>
              </a:rPr>
              <a:t>A pergunta do usuário também vira vetor</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AutoNum type="arabicPeriod"/>
            </a:pPr>
            <a:r>
              <a:rPr lang="pt-BR" sz="1000">
                <a:latin typeface="REM"/>
                <a:ea typeface="REM"/>
                <a:cs typeface="REM"/>
                <a:sym typeface="REM"/>
              </a:rPr>
              <a:t>O sistema mede “proximidade semântica”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AutoNum type="arabicPeriod"/>
            </a:pPr>
            <a:r>
              <a:rPr lang="pt-BR" sz="1000">
                <a:latin typeface="REM"/>
                <a:ea typeface="REM"/>
                <a:cs typeface="REM"/>
                <a:sym typeface="REM"/>
              </a:rPr>
              <a:t>Retorna os mais parecidos</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Depois que a busca vetorial encontra vários trechos candidatos, o sistema os ordena por relevância e envia os mais bem classificados para o LLM.</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40"/>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Pipeline RAG</a:t>
            </a:r>
            <a:endParaRPr b="1" sz="2500">
              <a:solidFill>
                <a:srgbClr val="27213D"/>
              </a:solidFill>
              <a:latin typeface="REM"/>
              <a:ea typeface="REM"/>
              <a:cs typeface="REM"/>
              <a:sym typeface="REM"/>
            </a:endParaRPr>
          </a:p>
        </p:txBody>
      </p:sp>
      <p:pic>
        <p:nvPicPr>
          <p:cNvPr id="181" name="Google Shape;181;p40"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182" name="Google Shape;182;p40"/>
          <p:cNvSpPr/>
          <p:nvPr/>
        </p:nvSpPr>
        <p:spPr>
          <a:xfrm>
            <a:off x="696425" y="1868300"/>
            <a:ext cx="1369500" cy="609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lt1"/>
                </a:solidFill>
                <a:latin typeface="REM"/>
                <a:ea typeface="REM"/>
                <a:cs typeface="REM"/>
                <a:sym typeface="REM"/>
              </a:rPr>
              <a:t>Documentos</a:t>
            </a:r>
            <a:endParaRPr>
              <a:solidFill>
                <a:schemeClr val="lt1"/>
              </a:solidFill>
              <a:latin typeface="REM"/>
              <a:ea typeface="REM"/>
              <a:cs typeface="REM"/>
              <a:sym typeface="REM"/>
            </a:endParaRPr>
          </a:p>
        </p:txBody>
      </p:sp>
      <p:sp>
        <p:nvSpPr>
          <p:cNvPr id="183" name="Google Shape;183;p40"/>
          <p:cNvSpPr/>
          <p:nvPr/>
        </p:nvSpPr>
        <p:spPr>
          <a:xfrm>
            <a:off x="2274113" y="1868300"/>
            <a:ext cx="1369500" cy="609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lt1"/>
                </a:solidFill>
                <a:latin typeface="REM"/>
                <a:ea typeface="REM"/>
                <a:cs typeface="REM"/>
                <a:sym typeface="REM"/>
              </a:rPr>
              <a:t>Chunking + </a:t>
            </a:r>
            <a:r>
              <a:rPr lang="pt-BR">
                <a:solidFill>
                  <a:schemeClr val="lt1"/>
                </a:solidFill>
                <a:latin typeface="REM"/>
                <a:ea typeface="REM"/>
                <a:cs typeface="REM"/>
                <a:sym typeface="REM"/>
              </a:rPr>
              <a:t>Embeddings</a:t>
            </a:r>
            <a:endParaRPr>
              <a:solidFill>
                <a:schemeClr val="lt1"/>
              </a:solidFill>
              <a:latin typeface="REM"/>
              <a:ea typeface="REM"/>
              <a:cs typeface="REM"/>
              <a:sym typeface="REM"/>
            </a:endParaRPr>
          </a:p>
        </p:txBody>
      </p:sp>
      <p:sp>
        <p:nvSpPr>
          <p:cNvPr id="184" name="Google Shape;184;p40"/>
          <p:cNvSpPr/>
          <p:nvPr/>
        </p:nvSpPr>
        <p:spPr>
          <a:xfrm>
            <a:off x="3851800" y="1868300"/>
            <a:ext cx="1369500" cy="609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lt1"/>
                </a:solidFill>
                <a:latin typeface="REM"/>
                <a:ea typeface="REM"/>
                <a:cs typeface="REM"/>
                <a:sym typeface="REM"/>
              </a:rPr>
              <a:t>Busca Vetorial</a:t>
            </a:r>
            <a:endParaRPr>
              <a:solidFill>
                <a:schemeClr val="lt1"/>
              </a:solidFill>
              <a:latin typeface="REM"/>
              <a:ea typeface="REM"/>
              <a:cs typeface="REM"/>
              <a:sym typeface="REM"/>
            </a:endParaRPr>
          </a:p>
        </p:txBody>
      </p:sp>
      <p:sp>
        <p:nvSpPr>
          <p:cNvPr id="185" name="Google Shape;185;p40"/>
          <p:cNvSpPr/>
          <p:nvPr/>
        </p:nvSpPr>
        <p:spPr>
          <a:xfrm>
            <a:off x="5464925" y="1740200"/>
            <a:ext cx="1369500" cy="25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lt1"/>
                </a:solidFill>
                <a:latin typeface="REM"/>
                <a:ea typeface="REM"/>
                <a:cs typeface="REM"/>
                <a:sym typeface="REM"/>
              </a:rPr>
              <a:t>Chunk 1</a:t>
            </a:r>
            <a:endParaRPr>
              <a:solidFill>
                <a:schemeClr val="lt1"/>
              </a:solidFill>
              <a:latin typeface="REM"/>
              <a:ea typeface="REM"/>
              <a:cs typeface="REM"/>
              <a:sym typeface="REM"/>
            </a:endParaRPr>
          </a:p>
        </p:txBody>
      </p:sp>
      <p:sp>
        <p:nvSpPr>
          <p:cNvPr id="186" name="Google Shape;186;p40"/>
          <p:cNvSpPr/>
          <p:nvPr/>
        </p:nvSpPr>
        <p:spPr>
          <a:xfrm>
            <a:off x="5464925" y="2045150"/>
            <a:ext cx="1369500" cy="25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lt1"/>
                </a:solidFill>
                <a:latin typeface="REM"/>
                <a:ea typeface="REM"/>
                <a:cs typeface="REM"/>
                <a:sym typeface="REM"/>
              </a:rPr>
              <a:t>Chunk 2</a:t>
            </a:r>
            <a:endParaRPr>
              <a:solidFill>
                <a:schemeClr val="lt1"/>
              </a:solidFill>
              <a:latin typeface="REM"/>
              <a:ea typeface="REM"/>
              <a:cs typeface="REM"/>
              <a:sym typeface="REM"/>
            </a:endParaRPr>
          </a:p>
        </p:txBody>
      </p:sp>
      <p:sp>
        <p:nvSpPr>
          <p:cNvPr id="187" name="Google Shape;187;p40"/>
          <p:cNvSpPr/>
          <p:nvPr/>
        </p:nvSpPr>
        <p:spPr>
          <a:xfrm>
            <a:off x="5464925" y="2350100"/>
            <a:ext cx="1369500" cy="25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lt1"/>
                </a:solidFill>
                <a:latin typeface="REM"/>
                <a:ea typeface="REM"/>
                <a:cs typeface="REM"/>
                <a:sym typeface="REM"/>
              </a:rPr>
              <a:t>Chunk N</a:t>
            </a:r>
            <a:endParaRPr>
              <a:solidFill>
                <a:schemeClr val="lt1"/>
              </a:solidFill>
              <a:latin typeface="REM"/>
              <a:ea typeface="REM"/>
              <a:cs typeface="REM"/>
              <a:sym typeface="REM"/>
            </a:endParaRPr>
          </a:p>
        </p:txBody>
      </p:sp>
      <p:sp>
        <p:nvSpPr>
          <p:cNvPr id="188" name="Google Shape;188;p40"/>
          <p:cNvSpPr/>
          <p:nvPr/>
        </p:nvSpPr>
        <p:spPr>
          <a:xfrm>
            <a:off x="7078050" y="1868300"/>
            <a:ext cx="1369500" cy="609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lt1"/>
                </a:solidFill>
                <a:latin typeface="REM"/>
                <a:ea typeface="REM"/>
                <a:cs typeface="REM"/>
                <a:sym typeface="REM"/>
              </a:rPr>
              <a:t>LLM</a:t>
            </a:r>
            <a:endParaRPr>
              <a:solidFill>
                <a:schemeClr val="lt1"/>
              </a:solidFill>
              <a:latin typeface="REM"/>
              <a:ea typeface="REM"/>
              <a:cs typeface="REM"/>
              <a:sym typeface="REM"/>
            </a:endParaRPr>
          </a:p>
        </p:txBody>
      </p:sp>
      <p:sp>
        <p:nvSpPr>
          <p:cNvPr id="189" name="Google Shape;189;p40"/>
          <p:cNvSpPr/>
          <p:nvPr/>
        </p:nvSpPr>
        <p:spPr>
          <a:xfrm>
            <a:off x="7078063" y="2952150"/>
            <a:ext cx="1369500" cy="6099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solidFill>
                  <a:schemeClr val="lt1"/>
                </a:solidFill>
                <a:latin typeface="REM"/>
                <a:ea typeface="REM"/>
                <a:cs typeface="REM"/>
                <a:sym typeface="REM"/>
              </a:rPr>
              <a:t>Resposta</a:t>
            </a:r>
            <a:endParaRPr>
              <a:solidFill>
                <a:schemeClr val="lt1"/>
              </a:solidFill>
              <a:latin typeface="REM"/>
              <a:ea typeface="REM"/>
              <a:cs typeface="REM"/>
              <a:sym typeface="REM"/>
            </a:endParaRPr>
          </a:p>
        </p:txBody>
      </p:sp>
      <p:cxnSp>
        <p:nvCxnSpPr>
          <p:cNvPr id="190" name="Google Shape;190;p40"/>
          <p:cNvCxnSpPr>
            <a:stCxn id="182" idx="3"/>
            <a:endCxn id="183" idx="1"/>
          </p:cNvCxnSpPr>
          <p:nvPr/>
        </p:nvCxnSpPr>
        <p:spPr>
          <a:xfrm>
            <a:off x="2065925" y="2173250"/>
            <a:ext cx="208200" cy="0"/>
          </a:xfrm>
          <a:prstGeom prst="straightConnector1">
            <a:avLst/>
          </a:prstGeom>
          <a:noFill/>
          <a:ln cap="flat" cmpd="sng" w="9525">
            <a:solidFill>
              <a:schemeClr val="dk1"/>
            </a:solidFill>
            <a:prstDash val="solid"/>
            <a:round/>
            <a:headEnd len="med" w="med" type="none"/>
            <a:tailEnd len="med" w="med" type="triangle"/>
          </a:ln>
        </p:spPr>
      </p:cxnSp>
      <p:cxnSp>
        <p:nvCxnSpPr>
          <p:cNvPr id="191" name="Google Shape;191;p40"/>
          <p:cNvCxnSpPr>
            <a:stCxn id="183" idx="3"/>
            <a:endCxn id="184" idx="1"/>
          </p:cNvCxnSpPr>
          <p:nvPr/>
        </p:nvCxnSpPr>
        <p:spPr>
          <a:xfrm>
            <a:off x="3643613" y="2173250"/>
            <a:ext cx="208200" cy="0"/>
          </a:xfrm>
          <a:prstGeom prst="straightConnector1">
            <a:avLst/>
          </a:prstGeom>
          <a:noFill/>
          <a:ln cap="flat" cmpd="sng" w="9525">
            <a:solidFill>
              <a:schemeClr val="dk1"/>
            </a:solidFill>
            <a:prstDash val="solid"/>
            <a:round/>
            <a:headEnd len="med" w="med" type="none"/>
            <a:tailEnd len="med" w="med" type="triangle"/>
          </a:ln>
        </p:spPr>
      </p:cxnSp>
      <p:cxnSp>
        <p:nvCxnSpPr>
          <p:cNvPr id="192" name="Google Shape;192;p40"/>
          <p:cNvCxnSpPr>
            <a:stCxn id="184" idx="3"/>
            <a:endCxn id="186" idx="1"/>
          </p:cNvCxnSpPr>
          <p:nvPr/>
        </p:nvCxnSpPr>
        <p:spPr>
          <a:xfrm>
            <a:off x="5221300" y="2173250"/>
            <a:ext cx="243600" cy="0"/>
          </a:xfrm>
          <a:prstGeom prst="straightConnector1">
            <a:avLst/>
          </a:prstGeom>
          <a:noFill/>
          <a:ln cap="flat" cmpd="sng" w="9525">
            <a:solidFill>
              <a:schemeClr val="dk1"/>
            </a:solidFill>
            <a:prstDash val="solid"/>
            <a:round/>
            <a:headEnd len="med" w="med" type="none"/>
            <a:tailEnd len="med" w="med" type="triangle"/>
          </a:ln>
        </p:spPr>
      </p:cxnSp>
      <p:cxnSp>
        <p:nvCxnSpPr>
          <p:cNvPr id="193" name="Google Shape;193;p40"/>
          <p:cNvCxnSpPr>
            <a:stCxn id="186" idx="3"/>
            <a:endCxn id="188" idx="1"/>
          </p:cNvCxnSpPr>
          <p:nvPr/>
        </p:nvCxnSpPr>
        <p:spPr>
          <a:xfrm>
            <a:off x="6834425" y="2173250"/>
            <a:ext cx="243600" cy="0"/>
          </a:xfrm>
          <a:prstGeom prst="straightConnector1">
            <a:avLst/>
          </a:prstGeom>
          <a:noFill/>
          <a:ln cap="flat" cmpd="sng" w="9525">
            <a:solidFill>
              <a:schemeClr val="dk1"/>
            </a:solidFill>
            <a:prstDash val="solid"/>
            <a:round/>
            <a:headEnd len="med" w="med" type="none"/>
            <a:tailEnd len="med" w="med" type="triangle"/>
          </a:ln>
        </p:spPr>
      </p:cxnSp>
      <p:cxnSp>
        <p:nvCxnSpPr>
          <p:cNvPr id="194" name="Google Shape;194;p40"/>
          <p:cNvCxnSpPr>
            <a:stCxn id="188" idx="2"/>
            <a:endCxn id="189" idx="0"/>
          </p:cNvCxnSpPr>
          <p:nvPr/>
        </p:nvCxnSpPr>
        <p:spPr>
          <a:xfrm>
            <a:off x="7762800" y="2478200"/>
            <a:ext cx="0" cy="4740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41"/>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Como avaliar?</a:t>
            </a:r>
            <a:endParaRPr b="1" sz="2500">
              <a:solidFill>
                <a:srgbClr val="27213D"/>
              </a:solidFill>
              <a:latin typeface="REM"/>
              <a:ea typeface="REM"/>
              <a:cs typeface="REM"/>
              <a:sym typeface="REM"/>
            </a:endParaRPr>
          </a:p>
        </p:txBody>
      </p:sp>
      <p:pic>
        <p:nvPicPr>
          <p:cNvPr id="200" name="Google Shape;200;p41"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201" name="Google Shape;201;p41"/>
          <p:cNvSpPr txBox="1"/>
          <p:nvPr/>
        </p:nvSpPr>
        <p:spPr>
          <a:xfrm>
            <a:off x="571400" y="1249800"/>
            <a:ext cx="7725300" cy="4571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RAGAS é um conjunto de métricas criado especificamente para avaliar sistemas com recuperação de informação (RAG), ajudando a identificar onde o pipeline está falhando.</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AutoNum type="arabicPeriod"/>
            </a:pPr>
            <a:r>
              <a:rPr b="1" lang="pt-BR" sz="1000">
                <a:latin typeface="REM"/>
                <a:ea typeface="REM"/>
                <a:cs typeface="REM"/>
                <a:sym typeface="REM"/>
              </a:rPr>
              <a:t>Avalia se o sistema encontrou os trechos corretos.</a:t>
            </a:r>
            <a:endParaRPr b="1" sz="1000">
              <a:latin typeface="REM"/>
              <a:ea typeface="REM"/>
              <a:cs typeface="REM"/>
              <a:sym typeface="REM"/>
            </a:endParaRPr>
          </a:p>
          <a:p>
            <a:pPr indent="-292100" lvl="0" marL="914400" rtl="0" algn="l">
              <a:lnSpc>
                <a:spcPct val="150000"/>
              </a:lnSpc>
              <a:spcBef>
                <a:spcPts val="0"/>
              </a:spcBef>
              <a:spcAft>
                <a:spcPts val="0"/>
              </a:spcAft>
              <a:buSzPts val="1000"/>
              <a:buFont typeface="REM"/>
              <a:buChar char="●"/>
            </a:pPr>
            <a:r>
              <a:rPr lang="pt-BR" sz="1000">
                <a:latin typeface="REM"/>
                <a:ea typeface="REM"/>
                <a:cs typeface="REM"/>
                <a:sym typeface="REM"/>
              </a:rPr>
              <a:t>Context Precision: os trechos recuperados eram realmente relevantes?</a:t>
            </a:r>
            <a:endParaRPr sz="1000">
              <a:latin typeface="REM"/>
              <a:ea typeface="REM"/>
              <a:cs typeface="REM"/>
              <a:sym typeface="REM"/>
            </a:endParaRPr>
          </a:p>
          <a:p>
            <a:pPr indent="-292100" lvl="0" marL="914400" rtl="0" algn="l">
              <a:lnSpc>
                <a:spcPct val="150000"/>
              </a:lnSpc>
              <a:spcBef>
                <a:spcPts val="0"/>
              </a:spcBef>
              <a:spcAft>
                <a:spcPts val="0"/>
              </a:spcAft>
              <a:buSzPts val="1000"/>
              <a:buFont typeface="REM"/>
              <a:buChar char="●"/>
            </a:pPr>
            <a:r>
              <a:rPr lang="pt-BR" sz="1000">
                <a:latin typeface="REM"/>
                <a:ea typeface="REM"/>
                <a:cs typeface="REM"/>
                <a:sym typeface="REM"/>
              </a:rPr>
              <a:t>Context Recall: o sistema recuperou tudo que era necessário?</a:t>
            </a:r>
            <a:endParaRPr sz="1000">
              <a:latin typeface="REM"/>
              <a:ea typeface="REM"/>
              <a:cs typeface="REM"/>
              <a:sym typeface="REM"/>
            </a:endParaRPr>
          </a:p>
          <a:p>
            <a:pPr indent="-292100" lvl="0" marL="914400" rtl="0" algn="l">
              <a:lnSpc>
                <a:spcPct val="150000"/>
              </a:lnSpc>
              <a:spcBef>
                <a:spcPts val="0"/>
              </a:spcBef>
              <a:spcAft>
                <a:spcPts val="0"/>
              </a:spcAft>
              <a:buSzPts val="1000"/>
              <a:buFont typeface="REM"/>
              <a:buChar char="●"/>
            </a:pPr>
            <a:r>
              <a:rPr lang="pt-BR" sz="1000">
                <a:latin typeface="REM"/>
                <a:ea typeface="REM"/>
                <a:cs typeface="REM"/>
                <a:sym typeface="REM"/>
              </a:rPr>
              <a:t>Context Entities Recall: as entidades importantes foram encontradas?</a:t>
            </a:r>
            <a:endParaRPr sz="1000">
              <a:latin typeface="REM"/>
              <a:ea typeface="REM"/>
              <a:cs typeface="REM"/>
              <a:sym typeface="REM"/>
            </a:endParaRPr>
          </a:p>
          <a:p>
            <a:pPr indent="-292100" lvl="0" marL="914400" rtl="0" algn="l">
              <a:lnSpc>
                <a:spcPct val="150000"/>
              </a:lnSpc>
              <a:spcBef>
                <a:spcPts val="0"/>
              </a:spcBef>
              <a:spcAft>
                <a:spcPts val="0"/>
              </a:spcAft>
              <a:buSzPts val="1000"/>
              <a:buFont typeface="REM"/>
              <a:buChar char="●"/>
            </a:pPr>
            <a:r>
              <a:rPr lang="pt-BR" sz="1000">
                <a:latin typeface="REM"/>
                <a:ea typeface="REM"/>
                <a:cs typeface="REM"/>
                <a:sym typeface="REM"/>
              </a:rPr>
              <a:t>Noise Sensitivity: o modelo se confunde com informação irrelevante?</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AutoNum type="arabicPeriod"/>
            </a:pPr>
            <a:r>
              <a:rPr b="1" lang="pt-BR" sz="1000">
                <a:latin typeface="REM"/>
                <a:ea typeface="REM"/>
                <a:cs typeface="REM"/>
                <a:sym typeface="REM"/>
              </a:rPr>
              <a:t>Avalia se o modelo respondeu corretamente com base no contexto.</a:t>
            </a:r>
            <a:endParaRPr b="1" sz="1000">
              <a:latin typeface="REM"/>
              <a:ea typeface="REM"/>
              <a:cs typeface="REM"/>
              <a:sym typeface="REM"/>
            </a:endParaRPr>
          </a:p>
          <a:p>
            <a:pPr indent="-292100" lvl="0" marL="914400" rtl="0" algn="l">
              <a:lnSpc>
                <a:spcPct val="150000"/>
              </a:lnSpc>
              <a:spcBef>
                <a:spcPts val="0"/>
              </a:spcBef>
              <a:spcAft>
                <a:spcPts val="0"/>
              </a:spcAft>
              <a:buSzPts val="1000"/>
              <a:buFont typeface="REM"/>
              <a:buChar char="●"/>
            </a:pPr>
            <a:r>
              <a:rPr lang="pt-BR" sz="1000">
                <a:latin typeface="REM"/>
                <a:ea typeface="REM"/>
                <a:cs typeface="REM"/>
                <a:sym typeface="REM"/>
              </a:rPr>
              <a:t>Faithfulness: a resposta está fiel aos trechos recuperados?</a:t>
            </a:r>
            <a:endParaRPr sz="1000">
              <a:latin typeface="REM"/>
              <a:ea typeface="REM"/>
              <a:cs typeface="REM"/>
              <a:sym typeface="REM"/>
            </a:endParaRPr>
          </a:p>
          <a:p>
            <a:pPr indent="-292100" lvl="0" marL="914400" rtl="0" algn="l">
              <a:lnSpc>
                <a:spcPct val="150000"/>
              </a:lnSpc>
              <a:spcBef>
                <a:spcPts val="0"/>
              </a:spcBef>
              <a:spcAft>
                <a:spcPts val="0"/>
              </a:spcAft>
              <a:buSzPts val="1000"/>
              <a:buFont typeface="REM"/>
              <a:buChar char="●"/>
            </a:pPr>
            <a:r>
              <a:rPr lang="pt-BR" sz="1000">
                <a:latin typeface="REM"/>
                <a:ea typeface="REM"/>
                <a:cs typeface="REM"/>
                <a:sym typeface="REM"/>
              </a:rPr>
              <a:t>Response Relevancy: a resposta realmente atende à pergunta?</a:t>
            </a:r>
            <a:endParaRPr sz="1000">
              <a:latin typeface="REM"/>
              <a:ea typeface="REM"/>
              <a:cs typeface="REM"/>
              <a:sym typeface="REM"/>
            </a:endParaRPr>
          </a:p>
          <a:p>
            <a:pPr indent="-292100" lvl="0" marL="914400" rtl="0" algn="l">
              <a:lnSpc>
                <a:spcPct val="150000"/>
              </a:lnSpc>
              <a:spcBef>
                <a:spcPts val="0"/>
              </a:spcBef>
              <a:spcAft>
                <a:spcPts val="0"/>
              </a:spcAft>
              <a:buSzPts val="1000"/>
              <a:buFont typeface="REM"/>
              <a:buChar char="●"/>
            </a:pPr>
            <a:r>
              <a:rPr lang="pt-BR" sz="1000">
                <a:latin typeface="REM"/>
                <a:ea typeface="REM"/>
                <a:cs typeface="REM"/>
                <a:sym typeface="REM"/>
              </a:rPr>
              <a:t>Answer Correctness: a resposta está correta factualmente?</a:t>
            </a:r>
            <a:endParaRPr sz="1000">
              <a:latin typeface="REM"/>
              <a:ea typeface="REM"/>
              <a:cs typeface="REM"/>
              <a:sym typeface="REM"/>
            </a:endParaRPr>
          </a:p>
          <a:p>
            <a:pPr indent="-292100" lvl="0" marL="914400" rtl="0" algn="l">
              <a:lnSpc>
                <a:spcPct val="150000"/>
              </a:lnSpc>
              <a:spcBef>
                <a:spcPts val="0"/>
              </a:spcBef>
              <a:spcAft>
                <a:spcPts val="0"/>
              </a:spcAft>
              <a:buSzPts val="1000"/>
              <a:buFont typeface="REM"/>
              <a:buChar char="●"/>
            </a:pPr>
            <a:r>
              <a:rPr lang="pt-BR" sz="1000">
                <a:latin typeface="REM"/>
                <a:ea typeface="REM"/>
                <a:cs typeface="REM"/>
                <a:sym typeface="REM"/>
              </a:rPr>
              <a:t>Answer Similarity: a resposta é semanticamente próxima do esperado?</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42"/>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Como avaliar?</a:t>
            </a:r>
            <a:endParaRPr b="1" sz="2500">
              <a:solidFill>
                <a:srgbClr val="27213D"/>
              </a:solidFill>
              <a:latin typeface="REM"/>
              <a:ea typeface="REM"/>
              <a:cs typeface="REM"/>
              <a:sym typeface="REM"/>
            </a:endParaRPr>
          </a:p>
        </p:txBody>
      </p:sp>
      <p:pic>
        <p:nvPicPr>
          <p:cNvPr id="207" name="Google Shape;207;p42"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208" name="Google Shape;208;p42"/>
          <p:cNvSpPr txBox="1"/>
          <p:nvPr/>
        </p:nvSpPr>
        <p:spPr>
          <a:xfrm>
            <a:off x="571400" y="1249800"/>
            <a:ext cx="7725300" cy="4571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RAGAS é um conjunto de métricas criado especificamente para avaliar sistemas com recuperação de informação (RAG), ajudando a identificar onde o pipeline está falhando.</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AutoNum type="arabicPeriod"/>
            </a:pPr>
            <a:r>
              <a:rPr b="1" lang="pt-BR" sz="1000">
                <a:latin typeface="REM"/>
                <a:ea typeface="REM"/>
                <a:cs typeface="REM"/>
                <a:sym typeface="REM"/>
              </a:rPr>
              <a:t>Avalia se o sistema encontrou os trechos corretos.</a:t>
            </a:r>
            <a:endParaRPr b="1" sz="1000">
              <a:latin typeface="REM"/>
              <a:ea typeface="REM"/>
              <a:cs typeface="REM"/>
              <a:sym typeface="REM"/>
            </a:endParaRPr>
          </a:p>
          <a:p>
            <a:pPr indent="-292100" lvl="0" marL="914400" rtl="0" algn="l">
              <a:lnSpc>
                <a:spcPct val="150000"/>
              </a:lnSpc>
              <a:spcBef>
                <a:spcPts val="0"/>
              </a:spcBef>
              <a:spcAft>
                <a:spcPts val="0"/>
              </a:spcAft>
              <a:buSzPts val="1000"/>
              <a:buFont typeface="REM"/>
              <a:buChar char="●"/>
            </a:pPr>
            <a:r>
              <a:rPr lang="pt-BR" sz="1000">
                <a:latin typeface="REM"/>
                <a:ea typeface="REM"/>
                <a:cs typeface="REM"/>
                <a:sym typeface="REM"/>
              </a:rPr>
              <a:t>Context Precision: os trechos recuperados eram realmente relevantes?</a:t>
            </a:r>
            <a:endParaRPr sz="1000">
              <a:latin typeface="REM"/>
              <a:ea typeface="REM"/>
              <a:cs typeface="REM"/>
              <a:sym typeface="REM"/>
            </a:endParaRPr>
          </a:p>
          <a:p>
            <a:pPr indent="-292100" lvl="0" marL="914400" rtl="0" algn="l">
              <a:lnSpc>
                <a:spcPct val="150000"/>
              </a:lnSpc>
              <a:spcBef>
                <a:spcPts val="0"/>
              </a:spcBef>
              <a:spcAft>
                <a:spcPts val="0"/>
              </a:spcAft>
              <a:buSzPts val="1000"/>
              <a:buFont typeface="REM"/>
              <a:buChar char="●"/>
            </a:pPr>
            <a:r>
              <a:rPr lang="pt-BR" sz="1000">
                <a:latin typeface="REM"/>
                <a:ea typeface="REM"/>
                <a:cs typeface="REM"/>
                <a:sym typeface="REM"/>
              </a:rPr>
              <a:t>Context Recall: o sistema recuperou tudo que era necessário?</a:t>
            </a:r>
            <a:endParaRPr sz="1000">
              <a:latin typeface="REM"/>
              <a:ea typeface="REM"/>
              <a:cs typeface="REM"/>
              <a:sym typeface="REM"/>
            </a:endParaRPr>
          </a:p>
          <a:p>
            <a:pPr indent="-292100" lvl="0" marL="914400" rtl="0" algn="l">
              <a:lnSpc>
                <a:spcPct val="150000"/>
              </a:lnSpc>
              <a:spcBef>
                <a:spcPts val="0"/>
              </a:spcBef>
              <a:spcAft>
                <a:spcPts val="0"/>
              </a:spcAft>
              <a:buSzPts val="1000"/>
              <a:buFont typeface="REM"/>
              <a:buChar char="●"/>
            </a:pPr>
            <a:r>
              <a:rPr lang="pt-BR" sz="1000">
                <a:latin typeface="REM"/>
                <a:ea typeface="REM"/>
                <a:cs typeface="REM"/>
                <a:sym typeface="REM"/>
              </a:rPr>
              <a:t>Context Entities Recall: as entidades importantes foram encontradas?</a:t>
            </a:r>
            <a:endParaRPr sz="1000">
              <a:latin typeface="REM"/>
              <a:ea typeface="REM"/>
              <a:cs typeface="REM"/>
              <a:sym typeface="REM"/>
            </a:endParaRPr>
          </a:p>
          <a:p>
            <a:pPr indent="-292100" lvl="0" marL="914400" rtl="0" algn="l">
              <a:lnSpc>
                <a:spcPct val="150000"/>
              </a:lnSpc>
              <a:spcBef>
                <a:spcPts val="0"/>
              </a:spcBef>
              <a:spcAft>
                <a:spcPts val="0"/>
              </a:spcAft>
              <a:buSzPts val="1000"/>
              <a:buFont typeface="REM"/>
              <a:buChar char="●"/>
            </a:pPr>
            <a:r>
              <a:rPr lang="pt-BR" sz="1000">
                <a:latin typeface="REM"/>
                <a:ea typeface="REM"/>
                <a:cs typeface="REM"/>
                <a:sym typeface="REM"/>
              </a:rPr>
              <a:t>Noise Sensitivity: o modelo se confunde com informação irrelevante?</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AutoNum type="arabicPeriod"/>
            </a:pPr>
            <a:r>
              <a:rPr b="1" lang="pt-BR" sz="1000">
                <a:latin typeface="REM"/>
                <a:ea typeface="REM"/>
                <a:cs typeface="REM"/>
                <a:sym typeface="REM"/>
              </a:rPr>
              <a:t>Avalia se o modelo respondeu corretamente com base no contexto.</a:t>
            </a:r>
            <a:endParaRPr b="1" sz="1000">
              <a:latin typeface="REM"/>
              <a:ea typeface="REM"/>
              <a:cs typeface="REM"/>
              <a:sym typeface="REM"/>
            </a:endParaRPr>
          </a:p>
          <a:p>
            <a:pPr indent="-292100" lvl="0" marL="914400" rtl="0" algn="l">
              <a:lnSpc>
                <a:spcPct val="150000"/>
              </a:lnSpc>
              <a:spcBef>
                <a:spcPts val="0"/>
              </a:spcBef>
              <a:spcAft>
                <a:spcPts val="0"/>
              </a:spcAft>
              <a:buSzPts val="1000"/>
              <a:buFont typeface="REM"/>
              <a:buChar char="●"/>
            </a:pPr>
            <a:r>
              <a:rPr lang="pt-BR" sz="1000">
                <a:latin typeface="REM"/>
                <a:ea typeface="REM"/>
                <a:cs typeface="REM"/>
                <a:sym typeface="REM"/>
              </a:rPr>
              <a:t>Faithfulness: a resposta está fiel aos trechos recuperados?</a:t>
            </a:r>
            <a:endParaRPr sz="1000">
              <a:latin typeface="REM"/>
              <a:ea typeface="REM"/>
              <a:cs typeface="REM"/>
              <a:sym typeface="REM"/>
            </a:endParaRPr>
          </a:p>
          <a:p>
            <a:pPr indent="-292100" lvl="0" marL="914400" rtl="0" algn="l">
              <a:lnSpc>
                <a:spcPct val="150000"/>
              </a:lnSpc>
              <a:spcBef>
                <a:spcPts val="0"/>
              </a:spcBef>
              <a:spcAft>
                <a:spcPts val="0"/>
              </a:spcAft>
              <a:buSzPts val="1000"/>
              <a:buFont typeface="REM"/>
              <a:buChar char="●"/>
            </a:pPr>
            <a:r>
              <a:rPr lang="pt-BR" sz="1000">
                <a:latin typeface="REM"/>
                <a:ea typeface="REM"/>
                <a:cs typeface="REM"/>
                <a:sym typeface="REM"/>
              </a:rPr>
              <a:t>Response Relevancy: a resposta realmente atende à pergunta?</a:t>
            </a:r>
            <a:endParaRPr sz="1000">
              <a:latin typeface="REM"/>
              <a:ea typeface="REM"/>
              <a:cs typeface="REM"/>
              <a:sym typeface="REM"/>
            </a:endParaRPr>
          </a:p>
          <a:p>
            <a:pPr indent="-292100" lvl="0" marL="914400" rtl="0" algn="l">
              <a:lnSpc>
                <a:spcPct val="150000"/>
              </a:lnSpc>
              <a:spcBef>
                <a:spcPts val="0"/>
              </a:spcBef>
              <a:spcAft>
                <a:spcPts val="0"/>
              </a:spcAft>
              <a:buSzPts val="1000"/>
              <a:buFont typeface="REM"/>
              <a:buChar char="●"/>
            </a:pPr>
            <a:r>
              <a:rPr lang="pt-BR" sz="1000">
                <a:latin typeface="REM"/>
                <a:ea typeface="REM"/>
                <a:cs typeface="REM"/>
                <a:sym typeface="REM"/>
              </a:rPr>
              <a:t>Answer Correctness: a resposta está correta factualmente?</a:t>
            </a:r>
            <a:endParaRPr sz="1000">
              <a:latin typeface="REM"/>
              <a:ea typeface="REM"/>
              <a:cs typeface="REM"/>
              <a:sym typeface="REM"/>
            </a:endParaRPr>
          </a:p>
          <a:p>
            <a:pPr indent="-292100" lvl="0" marL="914400" rtl="0" algn="l">
              <a:lnSpc>
                <a:spcPct val="150000"/>
              </a:lnSpc>
              <a:spcBef>
                <a:spcPts val="0"/>
              </a:spcBef>
              <a:spcAft>
                <a:spcPts val="0"/>
              </a:spcAft>
              <a:buSzPts val="1000"/>
              <a:buFont typeface="REM"/>
              <a:buChar char="●"/>
            </a:pPr>
            <a:r>
              <a:rPr lang="pt-BR" sz="1000">
                <a:latin typeface="REM"/>
                <a:ea typeface="REM"/>
                <a:cs typeface="REM"/>
                <a:sym typeface="REM"/>
              </a:rPr>
              <a:t>Answer Similarity: a resposta é semanticamente próxima do esperado?</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43"/>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Fine-tuning</a:t>
            </a:r>
            <a:endParaRPr b="1" sz="2500">
              <a:solidFill>
                <a:srgbClr val="27213D"/>
              </a:solidFill>
              <a:latin typeface="REM"/>
              <a:ea typeface="REM"/>
              <a:cs typeface="REM"/>
              <a:sym typeface="REM"/>
            </a:endParaRPr>
          </a:p>
        </p:txBody>
      </p:sp>
      <p:pic>
        <p:nvPicPr>
          <p:cNvPr id="214" name="Google Shape;214;p43"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215" name="Google Shape;215;p43"/>
          <p:cNvSpPr txBox="1"/>
          <p:nvPr/>
        </p:nvSpPr>
        <p:spPr>
          <a:xfrm>
            <a:off x="571400" y="1249800"/>
            <a:ext cx="7725300" cy="241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Fine-tuning é o processo de ajustar um modelo pré-treinado com exemplos específicos para modificar seu comportamento.</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Ele aprende padrões como:</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Tom específico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Estrutura fixa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Estilo padronizado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Classificação especializada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Formato rígido de saída</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4"/>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O que muda em custo e operação?</a:t>
            </a:r>
            <a:endParaRPr b="1" sz="2500">
              <a:solidFill>
                <a:srgbClr val="27213D"/>
              </a:solidFill>
              <a:latin typeface="REM"/>
              <a:ea typeface="REM"/>
              <a:cs typeface="REM"/>
              <a:sym typeface="REM"/>
            </a:endParaRPr>
          </a:p>
        </p:txBody>
      </p:sp>
      <p:pic>
        <p:nvPicPr>
          <p:cNvPr id="221" name="Google Shape;221;p44"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222" name="Google Shape;222;p44"/>
          <p:cNvSpPr txBox="1"/>
          <p:nvPr/>
        </p:nvSpPr>
        <p:spPr>
          <a:xfrm>
            <a:off x="571400" y="1249800"/>
            <a:ext cx="3000000" cy="3109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Fine-tuning implica:</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Dataset curado e de qualidade</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Processo de treinamento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Validação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Versionamento de modelo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Monitoramento pós-deploy</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Custo inicial alto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Tempo de implementação maior</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Dependência do fornecedor/modelo</a:t>
            </a:r>
            <a:endParaRPr sz="1000">
              <a:latin typeface="REM"/>
              <a:ea typeface="REM"/>
              <a:cs typeface="REM"/>
              <a:sym typeface="REM"/>
            </a:endParaRPr>
          </a:p>
          <a:p>
            <a:pPr indent="0" lvl="0" marL="45720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
        <p:nvSpPr>
          <p:cNvPr id="223" name="Google Shape;223;p44"/>
          <p:cNvSpPr txBox="1"/>
          <p:nvPr/>
        </p:nvSpPr>
        <p:spPr>
          <a:xfrm>
            <a:off x="4675900" y="1134300"/>
            <a:ext cx="3000000" cy="334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Use Fine-tuning quando:</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O padrão de resposta é repetitivo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O volume de uso é alto (justifica investimento)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Prompt engineering já foi levado ao limite</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RAG não resolve o problema</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Evite quando:</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Está ainda validando problema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Volume é baixo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Mudanças são frequentes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O problema é falta de contexto</a:t>
            </a:r>
            <a:endParaRPr/>
          </a:p>
        </p:txBody>
      </p:sp>
      <p:cxnSp>
        <p:nvCxnSpPr>
          <p:cNvPr id="224" name="Google Shape;224;p44"/>
          <p:cNvCxnSpPr/>
          <p:nvPr/>
        </p:nvCxnSpPr>
        <p:spPr>
          <a:xfrm flipH="1">
            <a:off x="4264400" y="1307050"/>
            <a:ext cx="9900" cy="31281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graphicFrame>
        <p:nvGraphicFramePr>
          <p:cNvPr id="229" name="Google Shape;229;p45"/>
          <p:cNvGraphicFramePr/>
          <p:nvPr/>
        </p:nvGraphicFramePr>
        <p:xfrm>
          <a:off x="203438" y="186725"/>
          <a:ext cx="3000000" cy="3000000"/>
        </p:xfrm>
        <a:graphic>
          <a:graphicData uri="http://schemas.openxmlformats.org/drawingml/2006/table">
            <a:tbl>
              <a:tblPr>
                <a:noFill/>
                <a:tableStyleId>{F76ABEE7-9EDA-45B7-9C2E-4049F43EADCF}</a:tableStyleId>
              </a:tblPr>
              <a:tblGrid>
                <a:gridCol w="1301850"/>
                <a:gridCol w="1595250"/>
                <a:gridCol w="1989450"/>
                <a:gridCol w="2007800"/>
                <a:gridCol w="1842775"/>
              </a:tblGrid>
              <a:tr h="101600">
                <a:tc>
                  <a:txBody>
                    <a:bodyPr/>
                    <a:lstStyle/>
                    <a:p>
                      <a:pPr indent="0" lvl="0" marL="0" rtl="0" algn="ctr">
                        <a:lnSpc>
                          <a:spcPct val="115000"/>
                        </a:lnSpc>
                        <a:spcBef>
                          <a:spcPts val="0"/>
                        </a:spcBef>
                        <a:spcAft>
                          <a:spcPts val="0"/>
                        </a:spcAft>
                        <a:buNone/>
                      </a:pPr>
                      <a:r>
                        <a:rPr b="1" lang="pt-BR" sz="1000">
                          <a:latin typeface="REM"/>
                          <a:ea typeface="REM"/>
                          <a:cs typeface="REM"/>
                          <a:sym typeface="REM"/>
                        </a:rPr>
                        <a:t>Aspecto</a:t>
                      </a:r>
                      <a:endParaRPr b="1"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pt-BR" sz="1000">
                          <a:latin typeface="REM"/>
                          <a:ea typeface="REM"/>
                          <a:cs typeface="REM"/>
                          <a:sym typeface="REM"/>
                        </a:rPr>
                        <a:t>LLM Puro</a:t>
                      </a:r>
                      <a:endParaRPr b="1"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pt-BR" sz="1000">
                          <a:latin typeface="REM"/>
                          <a:ea typeface="REM"/>
                          <a:cs typeface="REM"/>
                          <a:sym typeface="REM"/>
                        </a:rPr>
                        <a:t>RAG</a:t>
                      </a:r>
                      <a:endParaRPr b="1"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pt-BR" sz="1000">
                          <a:latin typeface="REM"/>
                          <a:ea typeface="REM"/>
                          <a:cs typeface="REM"/>
                          <a:sym typeface="REM"/>
                        </a:rPr>
                        <a:t>Fine-Tuning</a:t>
                      </a:r>
                      <a:endParaRPr b="1"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pt-BR" sz="1000">
                          <a:latin typeface="REM"/>
                          <a:ea typeface="REM"/>
                          <a:cs typeface="REM"/>
                          <a:sym typeface="REM"/>
                        </a:rPr>
                        <a:t>Agentes AI</a:t>
                      </a:r>
                      <a:endParaRPr b="1"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18975">
                <a:tc>
                  <a:txBody>
                    <a:bodyPr/>
                    <a:lstStyle/>
                    <a:p>
                      <a:pPr indent="0" lvl="0" marL="0" rtl="0" algn="l">
                        <a:spcBef>
                          <a:spcPts val="0"/>
                        </a:spcBef>
                        <a:spcAft>
                          <a:spcPts val="0"/>
                        </a:spcAft>
                        <a:buNone/>
                      </a:pPr>
                      <a:r>
                        <a:rPr b="1" lang="pt-BR" sz="1000">
                          <a:latin typeface="REM"/>
                          <a:ea typeface="REM"/>
                          <a:cs typeface="REM"/>
                          <a:sym typeface="REM"/>
                        </a:rPr>
                        <a:t>Resolve principalmente</a:t>
                      </a:r>
                      <a:endParaRPr b="1"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Tarefas linguísticas gerais</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Falta de conhecimento contextual ou atualizado</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Inconsistência de estilo, formato ou comportamento</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Problemas complexos que exigem decisão e ação</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1275">
                <a:tc>
                  <a:txBody>
                    <a:bodyPr/>
                    <a:lstStyle/>
                    <a:p>
                      <a:pPr indent="0" lvl="0" marL="0" rtl="0" algn="l">
                        <a:spcBef>
                          <a:spcPts val="0"/>
                        </a:spcBef>
                        <a:spcAft>
                          <a:spcPts val="0"/>
                        </a:spcAft>
                        <a:buNone/>
                      </a:pPr>
                      <a:r>
                        <a:rPr b="1" lang="pt-BR" sz="1000">
                          <a:latin typeface="REM"/>
                          <a:ea typeface="REM"/>
                          <a:cs typeface="REM"/>
                          <a:sym typeface="REM"/>
                        </a:rPr>
                        <a:t>Não resolve</a:t>
                      </a:r>
                      <a:endParaRPr b="1"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Dados atualizados ou proprietários</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Comportamento desalinhado</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Informação dinâmica</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Necessidade de dados confiáveis sem RAG</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29325">
                <a:tc>
                  <a:txBody>
                    <a:bodyPr/>
                    <a:lstStyle/>
                    <a:p>
                      <a:pPr indent="0" lvl="0" marL="0" rtl="0" algn="l">
                        <a:spcBef>
                          <a:spcPts val="0"/>
                        </a:spcBef>
                        <a:spcAft>
                          <a:spcPts val="0"/>
                        </a:spcAft>
                        <a:buNone/>
                      </a:pPr>
                      <a:r>
                        <a:rPr b="1" lang="pt-BR" sz="1000">
                          <a:latin typeface="REM"/>
                          <a:ea typeface="REM"/>
                          <a:cs typeface="REM"/>
                          <a:sym typeface="REM"/>
                        </a:rPr>
                        <a:t>Acesso a dados externos</a:t>
                      </a:r>
                      <a:endParaRPr b="1"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Não</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Sim</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Não (diretamente)</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Sim (via tools)</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2375">
                <a:tc>
                  <a:txBody>
                    <a:bodyPr/>
                    <a:lstStyle/>
                    <a:p>
                      <a:pPr indent="0" lvl="0" marL="0" rtl="0" algn="l">
                        <a:spcBef>
                          <a:spcPts val="0"/>
                        </a:spcBef>
                        <a:spcAft>
                          <a:spcPts val="0"/>
                        </a:spcAft>
                        <a:buNone/>
                      </a:pPr>
                      <a:r>
                        <a:rPr b="1" lang="pt-BR" sz="1000">
                          <a:latin typeface="REM"/>
                          <a:ea typeface="REM"/>
                          <a:cs typeface="REM"/>
                          <a:sym typeface="REM"/>
                        </a:rPr>
                        <a:t>Execução de ações</a:t>
                      </a:r>
                      <a:endParaRPr b="1"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Não</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Não</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Não</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Sim</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2375">
                <a:tc>
                  <a:txBody>
                    <a:bodyPr/>
                    <a:lstStyle/>
                    <a:p>
                      <a:pPr indent="0" lvl="0" marL="0" rtl="0" algn="l">
                        <a:spcBef>
                          <a:spcPts val="0"/>
                        </a:spcBef>
                        <a:spcAft>
                          <a:spcPts val="0"/>
                        </a:spcAft>
                        <a:buNone/>
                      </a:pPr>
                      <a:r>
                        <a:rPr b="1" lang="pt-BR" sz="1000">
                          <a:latin typeface="REM"/>
                          <a:ea typeface="REM"/>
                          <a:cs typeface="REM"/>
                          <a:sym typeface="REM"/>
                        </a:rPr>
                        <a:t>Complexidade técnica</a:t>
                      </a:r>
                      <a:endParaRPr b="1"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Baixa</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Média</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Média/Alta</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Alta</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2375">
                <a:tc>
                  <a:txBody>
                    <a:bodyPr/>
                    <a:lstStyle/>
                    <a:p>
                      <a:pPr indent="0" lvl="0" marL="0" rtl="0" algn="l">
                        <a:spcBef>
                          <a:spcPts val="0"/>
                        </a:spcBef>
                        <a:spcAft>
                          <a:spcPts val="0"/>
                        </a:spcAft>
                        <a:buNone/>
                      </a:pPr>
                      <a:r>
                        <a:rPr b="1" lang="pt-BR" sz="1000">
                          <a:latin typeface="REM"/>
                          <a:ea typeface="REM"/>
                          <a:cs typeface="REM"/>
                          <a:sym typeface="REM"/>
                        </a:rPr>
                        <a:t>Custo operacional</a:t>
                      </a:r>
                      <a:endParaRPr b="1"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Baixo</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Médio</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Alto (inicial)</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Alto</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7775">
                <a:tc>
                  <a:txBody>
                    <a:bodyPr/>
                    <a:lstStyle/>
                    <a:p>
                      <a:pPr indent="0" lvl="0" marL="0" rtl="0" algn="l">
                        <a:spcBef>
                          <a:spcPts val="0"/>
                        </a:spcBef>
                        <a:spcAft>
                          <a:spcPts val="0"/>
                        </a:spcAft>
                        <a:buNone/>
                      </a:pPr>
                      <a:r>
                        <a:rPr b="1" lang="pt-BR" sz="1000">
                          <a:latin typeface="REM"/>
                          <a:ea typeface="REM"/>
                          <a:cs typeface="REM"/>
                          <a:sym typeface="REM"/>
                        </a:rPr>
                        <a:t>Latência</a:t>
                      </a:r>
                      <a:endParaRPr b="1"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Baixa</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Média</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Baixa</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Alta</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2375">
                <a:tc>
                  <a:txBody>
                    <a:bodyPr/>
                    <a:lstStyle/>
                    <a:p>
                      <a:pPr indent="0" lvl="0" marL="0" rtl="0" algn="l">
                        <a:spcBef>
                          <a:spcPts val="0"/>
                        </a:spcBef>
                        <a:spcAft>
                          <a:spcPts val="0"/>
                        </a:spcAft>
                        <a:buNone/>
                      </a:pPr>
                      <a:r>
                        <a:rPr b="1" lang="pt-BR" sz="1000">
                          <a:latin typeface="REM"/>
                          <a:ea typeface="REM"/>
                          <a:cs typeface="REM"/>
                          <a:sym typeface="REM"/>
                        </a:rPr>
                        <a:t>Tempo de implementação</a:t>
                      </a:r>
                      <a:endParaRPr b="1"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Rápido</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Médio</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Longo</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Longo</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35625">
                <a:tc>
                  <a:txBody>
                    <a:bodyPr/>
                    <a:lstStyle/>
                    <a:p>
                      <a:pPr indent="0" lvl="0" marL="0" rtl="0" algn="l">
                        <a:spcBef>
                          <a:spcPts val="0"/>
                        </a:spcBef>
                        <a:spcAft>
                          <a:spcPts val="0"/>
                        </a:spcAft>
                        <a:buNone/>
                      </a:pPr>
                      <a:r>
                        <a:rPr b="1" lang="pt-BR" sz="1000">
                          <a:latin typeface="REM"/>
                          <a:ea typeface="REM"/>
                          <a:cs typeface="REM"/>
                          <a:sym typeface="REM"/>
                        </a:rPr>
                        <a:t>Melhor para</a:t>
                      </a:r>
                      <a:endParaRPr b="1"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Resumo, classificação, geração simples</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Chatbot com base interna, jurídico, helpdesk</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Padronização em larga escala</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1000">
                          <a:latin typeface="REM"/>
                          <a:ea typeface="REM"/>
                          <a:cs typeface="REM"/>
                          <a:sym typeface="REM"/>
                        </a:rPr>
                        <a:t>Assistentes autônomos, copilotos operacionais</a:t>
                      </a:r>
                      <a:endParaRPr sz="1000">
                        <a:latin typeface="REM"/>
                        <a:ea typeface="REM"/>
                        <a:cs typeface="REM"/>
                        <a:sym typeface="REM"/>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6"/>
          <p:cNvSpPr txBox="1"/>
          <p:nvPr/>
        </p:nvSpPr>
        <p:spPr>
          <a:xfrm>
            <a:off x="571400" y="4132275"/>
            <a:ext cx="73506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pt-BR" sz="2300">
                <a:solidFill>
                  <a:schemeClr val="lt1"/>
                </a:solidFill>
                <a:latin typeface="REM"/>
                <a:ea typeface="REM"/>
                <a:cs typeface="REM"/>
                <a:sym typeface="REM"/>
              </a:rPr>
              <a:t>Avaliação de Qualidade em Modelos Generativos</a:t>
            </a:r>
            <a:endParaRPr b="1" sz="2300">
              <a:solidFill>
                <a:schemeClr val="lt1"/>
              </a:solidFill>
              <a:latin typeface="REM"/>
              <a:ea typeface="REM"/>
              <a:cs typeface="REM"/>
              <a:sym typeface="REM"/>
            </a:endParaRPr>
          </a:p>
          <a:p>
            <a:pPr indent="0" lvl="0" marL="0" rtl="0" algn="l">
              <a:spcBef>
                <a:spcPts val="0"/>
              </a:spcBef>
              <a:spcAft>
                <a:spcPts val="0"/>
              </a:spcAft>
              <a:buClr>
                <a:schemeClr val="dk1"/>
              </a:buClr>
              <a:buSzPts val="1100"/>
              <a:buFont typeface="Arial"/>
              <a:buNone/>
            </a:pPr>
            <a:r>
              <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marR="0" rtl="0" algn="l">
              <a:lnSpc>
                <a:spcPct val="100000"/>
              </a:lnSpc>
              <a:spcBef>
                <a:spcPts val="0"/>
              </a:spcBef>
              <a:spcAft>
                <a:spcPts val="0"/>
              </a:spcAft>
              <a:buNone/>
            </a:pPr>
            <a:r>
              <a:t/>
            </a:r>
            <a:endParaRPr sz="2300">
              <a:solidFill>
                <a:schemeClr val="lt1"/>
              </a:solidFill>
              <a:latin typeface="REM"/>
              <a:ea typeface="REM"/>
              <a:cs typeface="REM"/>
              <a:sym typeface="REM"/>
            </a:endParaRPr>
          </a:p>
        </p:txBody>
      </p:sp>
      <p:pic>
        <p:nvPicPr>
          <p:cNvPr id="235" name="Google Shape;235;p46" title="Logo-Cortex.png"/>
          <p:cNvPicPr preferRelativeResize="0"/>
          <p:nvPr/>
        </p:nvPicPr>
        <p:blipFill>
          <a:blip r:embed="rId3">
            <a:alphaModFix/>
          </a:blip>
          <a:stretch>
            <a:fillRect/>
          </a:stretch>
        </p:blipFill>
        <p:spPr>
          <a:xfrm>
            <a:off x="8293125" y="4230150"/>
            <a:ext cx="261725" cy="2558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7"/>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Por que métricas tradicionais não bastam?</a:t>
            </a:r>
            <a:endParaRPr b="1" sz="2500">
              <a:solidFill>
                <a:srgbClr val="27213D"/>
              </a:solidFill>
              <a:latin typeface="REM"/>
              <a:ea typeface="REM"/>
              <a:cs typeface="REM"/>
              <a:sym typeface="REM"/>
            </a:endParaRPr>
          </a:p>
        </p:txBody>
      </p:sp>
      <p:pic>
        <p:nvPicPr>
          <p:cNvPr id="241" name="Google Shape;241;p47"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242" name="Google Shape;242;p47"/>
          <p:cNvSpPr txBox="1"/>
          <p:nvPr/>
        </p:nvSpPr>
        <p:spPr>
          <a:xfrm>
            <a:off x="571400" y="1249800"/>
            <a:ext cx="7405800" cy="1285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Métricas clássicas funcionam quando o output é um rótulo. LLMs geram texto aberto, múltiplas respostas possíveis e conteúdo probabilístico.</a:t>
            </a:r>
            <a:endParaRPr sz="1000">
              <a:latin typeface="REM"/>
              <a:ea typeface="REM"/>
              <a:cs typeface="REM"/>
              <a:sym typeface="REM"/>
            </a:endParaRPr>
          </a:p>
          <a:p>
            <a:pPr indent="0" lvl="0" marL="0" rtl="0" algn="l">
              <a:lnSpc>
                <a:spcPct val="115000"/>
              </a:lnSpc>
              <a:spcBef>
                <a:spcPts val="1200"/>
              </a:spcBef>
              <a:spcAft>
                <a:spcPts val="0"/>
              </a:spcAft>
              <a:buNone/>
            </a:pPr>
            <a:r>
              <a:rPr b="1" lang="pt-BR" sz="1000">
                <a:latin typeface="REM"/>
                <a:ea typeface="REM"/>
                <a:cs typeface="REM"/>
                <a:sym typeface="REM"/>
              </a:rPr>
              <a:t>Modelos generativos exigem avaliação multidimensional.</a:t>
            </a:r>
            <a:endParaRPr b="1"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8"/>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Avaliação Humana vs Automática</a:t>
            </a:r>
            <a:endParaRPr b="1" sz="2500">
              <a:solidFill>
                <a:srgbClr val="27213D"/>
              </a:solidFill>
              <a:latin typeface="REM"/>
              <a:ea typeface="REM"/>
              <a:cs typeface="REM"/>
              <a:sym typeface="REM"/>
            </a:endParaRPr>
          </a:p>
        </p:txBody>
      </p:sp>
      <p:pic>
        <p:nvPicPr>
          <p:cNvPr id="248" name="Google Shape;248;p48"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249" name="Google Shape;249;p48"/>
          <p:cNvSpPr txBox="1"/>
          <p:nvPr/>
        </p:nvSpPr>
        <p:spPr>
          <a:xfrm>
            <a:off x="571400" y="1134300"/>
            <a:ext cx="3000000" cy="380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Avaliação Humana</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Contextual</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Capaz de perceber nuance</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Avalia qualidade subjetiva</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Porém:</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Cara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Demorada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Difícil de escalar</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Ideal para:</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Features críticas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Ajuste fino de comportamento</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
        <p:nvSpPr>
          <p:cNvPr id="250" name="Google Shape;250;p48"/>
          <p:cNvSpPr txBox="1"/>
          <p:nvPr/>
        </p:nvSpPr>
        <p:spPr>
          <a:xfrm>
            <a:off x="4675900" y="1134300"/>
            <a:ext cx="3000000" cy="380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Avaliação Automática</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Escalável</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Rápida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Reprodutível</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Porém:</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Pode não capturar nuance</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Depende de métrica bem definida</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Ideal para:</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Monitoramento contínuo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Testes em larga escala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A/B testing</a:t>
            </a:r>
            <a:endParaRPr sz="1000">
              <a:latin typeface="REM"/>
              <a:ea typeface="REM"/>
              <a:cs typeface="REM"/>
              <a:sym typeface="REM"/>
            </a:endParaRPr>
          </a:p>
          <a:p>
            <a:pPr indent="0" lvl="0" marL="457200" rtl="0" algn="l">
              <a:lnSpc>
                <a:spcPct val="150000"/>
              </a:lnSpc>
              <a:spcBef>
                <a:spcPts val="1200"/>
              </a:spcBef>
              <a:spcAft>
                <a:spcPts val="1200"/>
              </a:spcAft>
              <a:buNone/>
            </a:pPr>
            <a:r>
              <a:t/>
            </a:r>
            <a:endParaRPr sz="1000">
              <a:latin typeface="REM"/>
              <a:ea typeface="REM"/>
              <a:cs typeface="REM"/>
              <a:sym typeface="REM"/>
            </a:endParaRPr>
          </a:p>
        </p:txBody>
      </p:sp>
      <p:cxnSp>
        <p:nvCxnSpPr>
          <p:cNvPr id="251" name="Google Shape;251;p48"/>
          <p:cNvCxnSpPr/>
          <p:nvPr/>
        </p:nvCxnSpPr>
        <p:spPr>
          <a:xfrm flipH="1">
            <a:off x="4264400" y="1307050"/>
            <a:ext cx="9900" cy="31281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9"/>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Avaliação </a:t>
            </a:r>
            <a:r>
              <a:rPr b="1" lang="pt-BR" sz="2300">
                <a:solidFill>
                  <a:srgbClr val="27213D"/>
                </a:solidFill>
                <a:latin typeface="REM"/>
                <a:ea typeface="REM"/>
                <a:cs typeface="REM"/>
                <a:sym typeface="REM"/>
              </a:rPr>
              <a:t>Critérios Comuns de Avaliação</a:t>
            </a:r>
            <a:endParaRPr b="1" sz="2500">
              <a:solidFill>
                <a:srgbClr val="27213D"/>
              </a:solidFill>
              <a:latin typeface="REM"/>
              <a:ea typeface="REM"/>
              <a:cs typeface="REM"/>
              <a:sym typeface="REM"/>
            </a:endParaRPr>
          </a:p>
        </p:txBody>
      </p:sp>
      <p:pic>
        <p:nvPicPr>
          <p:cNvPr id="257" name="Google Shape;257;p49"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258" name="Google Shape;258;p49"/>
          <p:cNvSpPr txBox="1"/>
          <p:nvPr/>
        </p:nvSpPr>
        <p:spPr>
          <a:xfrm>
            <a:off x="571400" y="1134300"/>
            <a:ext cx="6579600" cy="2647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Em sistemas generativos, qualidade é composta por múltiplos critérios:</a:t>
            </a:r>
            <a:endParaRPr sz="1000">
              <a:latin typeface="REM"/>
              <a:ea typeface="REM"/>
              <a:cs typeface="REM"/>
              <a:sym typeface="REM"/>
            </a:endParaRPr>
          </a:p>
          <a:p>
            <a:pPr indent="0" lvl="0" marL="0" rtl="0" algn="l">
              <a:lnSpc>
                <a:spcPct val="150000"/>
              </a:lnSpc>
              <a:spcBef>
                <a:spcPts val="1200"/>
              </a:spcBef>
              <a:spcAft>
                <a:spcPts val="0"/>
              </a:spcAft>
              <a:buNone/>
            </a:pPr>
            <a:r>
              <a:rPr b="1" lang="pt-BR" sz="1000">
                <a:latin typeface="REM"/>
                <a:ea typeface="REM"/>
                <a:cs typeface="REM"/>
                <a:sym typeface="REM"/>
              </a:rPr>
              <a:t>Relevância:</a:t>
            </a:r>
            <a:r>
              <a:rPr lang="pt-BR" sz="1000">
                <a:latin typeface="REM"/>
                <a:ea typeface="REM"/>
                <a:cs typeface="REM"/>
                <a:sym typeface="REM"/>
              </a:rPr>
              <a:t> A resposta responde à pergunta?</a:t>
            </a:r>
            <a:endParaRPr sz="1000">
              <a:latin typeface="REM"/>
              <a:ea typeface="REM"/>
              <a:cs typeface="REM"/>
              <a:sym typeface="REM"/>
            </a:endParaRPr>
          </a:p>
          <a:p>
            <a:pPr indent="0" lvl="0" marL="0" rtl="0" algn="l">
              <a:lnSpc>
                <a:spcPct val="150000"/>
              </a:lnSpc>
              <a:spcBef>
                <a:spcPts val="1200"/>
              </a:spcBef>
              <a:spcAft>
                <a:spcPts val="0"/>
              </a:spcAft>
              <a:buNone/>
            </a:pPr>
            <a:r>
              <a:rPr b="1" lang="pt-BR" sz="1000">
                <a:latin typeface="REM"/>
                <a:ea typeface="REM"/>
                <a:cs typeface="REM"/>
                <a:sym typeface="REM"/>
              </a:rPr>
              <a:t>Completude: </a:t>
            </a:r>
            <a:r>
              <a:rPr lang="pt-BR" sz="1000">
                <a:latin typeface="REM"/>
                <a:ea typeface="REM"/>
                <a:cs typeface="REM"/>
                <a:sym typeface="REM"/>
              </a:rPr>
              <a:t>Cobre os pontos importantes?</a:t>
            </a:r>
            <a:endParaRPr sz="1000">
              <a:latin typeface="REM"/>
              <a:ea typeface="REM"/>
              <a:cs typeface="REM"/>
              <a:sym typeface="REM"/>
            </a:endParaRPr>
          </a:p>
          <a:p>
            <a:pPr indent="0" lvl="0" marL="0" rtl="0" algn="l">
              <a:lnSpc>
                <a:spcPct val="150000"/>
              </a:lnSpc>
              <a:spcBef>
                <a:spcPts val="1200"/>
              </a:spcBef>
              <a:spcAft>
                <a:spcPts val="0"/>
              </a:spcAft>
              <a:buNone/>
            </a:pPr>
            <a:r>
              <a:rPr b="1" lang="pt-BR" sz="1000">
                <a:latin typeface="REM"/>
                <a:ea typeface="REM"/>
                <a:cs typeface="REM"/>
                <a:sym typeface="REM"/>
              </a:rPr>
              <a:t>Factualidade:</a:t>
            </a:r>
            <a:r>
              <a:rPr lang="pt-BR" sz="1000">
                <a:latin typeface="REM"/>
                <a:ea typeface="REM"/>
                <a:cs typeface="REM"/>
                <a:sym typeface="REM"/>
              </a:rPr>
              <a:t> Está baseada em fatos corretos?</a:t>
            </a:r>
            <a:endParaRPr sz="1000">
              <a:latin typeface="REM"/>
              <a:ea typeface="REM"/>
              <a:cs typeface="REM"/>
              <a:sym typeface="REM"/>
            </a:endParaRPr>
          </a:p>
          <a:p>
            <a:pPr indent="0" lvl="0" marL="0" rtl="0" algn="l">
              <a:lnSpc>
                <a:spcPct val="150000"/>
              </a:lnSpc>
              <a:spcBef>
                <a:spcPts val="1200"/>
              </a:spcBef>
              <a:spcAft>
                <a:spcPts val="0"/>
              </a:spcAft>
              <a:buNone/>
            </a:pPr>
            <a:r>
              <a:rPr b="1" lang="pt-BR" sz="1000">
                <a:latin typeface="REM"/>
                <a:ea typeface="REM"/>
                <a:cs typeface="REM"/>
                <a:sym typeface="REM"/>
              </a:rPr>
              <a:t>Clareza:</a:t>
            </a:r>
            <a:r>
              <a:rPr lang="pt-BR" sz="1000">
                <a:latin typeface="REM"/>
                <a:ea typeface="REM"/>
                <a:cs typeface="REM"/>
                <a:sym typeface="REM"/>
              </a:rPr>
              <a:t> É compreensível, organizada e objetiva?</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rPr lang="pt-BR" sz="1000">
                <a:latin typeface="REM"/>
                <a:ea typeface="REM"/>
                <a:cs typeface="REM"/>
                <a:sym typeface="REM"/>
              </a:rPr>
              <a:t>Qualidade precisa ser definida antes de ser medida.</a:t>
            </a:r>
            <a:endParaRPr sz="1000">
              <a:latin typeface="REM"/>
              <a:ea typeface="REM"/>
              <a:cs typeface="REM"/>
              <a:sym typeface="RE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50"/>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LLM-as-a-Judge</a:t>
            </a:r>
            <a:endParaRPr b="1" sz="2500">
              <a:solidFill>
                <a:srgbClr val="27213D"/>
              </a:solidFill>
              <a:latin typeface="REM"/>
              <a:ea typeface="REM"/>
              <a:cs typeface="REM"/>
              <a:sym typeface="REM"/>
            </a:endParaRPr>
          </a:p>
        </p:txBody>
      </p:sp>
      <p:pic>
        <p:nvPicPr>
          <p:cNvPr id="264" name="Google Shape;264;p50"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265" name="Google Shape;265;p50"/>
          <p:cNvSpPr txBox="1"/>
          <p:nvPr/>
        </p:nvSpPr>
        <p:spPr>
          <a:xfrm>
            <a:off x="571400" y="1134300"/>
            <a:ext cx="6579600" cy="3109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Usar um LLM para avaliar a saída de outro LLM.</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Exemplo: </a:t>
            </a:r>
            <a:r>
              <a:rPr b="1" lang="pt-BR" sz="1000">
                <a:latin typeface="REM"/>
                <a:ea typeface="REM"/>
                <a:cs typeface="REM"/>
                <a:sym typeface="REM"/>
              </a:rPr>
              <a:t>Modelo A</a:t>
            </a:r>
            <a:r>
              <a:rPr lang="pt-BR" sz="1000">
                <a:latin typeface="REM"/>
                <a:ea typeface="REM"/>
                <a:cs typeface="REM"/>
                <a:sym typeface="REM"/>
              </a:rPr>
              <a:t> gera resposta e </a:t>
            </a:r>
            <a:r>
              <a:rPr b="1" lang="pt-BR" sz="1000">
                <a:latin typeface="REM"/>
                <a:ea typeface="REM"/>
                <a:cs typeface="REM"/>
                <a:sym typeface="REM"/>
              </a:rPr>
              <a:t>Modelo B</a:t>
            </a:r>
            <a:r>
              <a:rPr lang="pt-BR" sz="1000">
                <a:latin typeface="REM"/>
                <a:ea typeface="REM"/>
                <a:cs typeface="REM"/>
                <a:sym typeface="REM"/>
              </a:rPr>
              <a:t> avalia segundo critérios.</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Ele pode medir: Relevância, Factualidade, Coerência, Comparação entre respostas, etc.</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rPr b="1" lang="pt-BR" sz="1000">
                <a:latin typeface="REM"/>
                <a:ea typeface="REM"/>
                <a:cs typeface="REM"/>
                <a:sym typeface="REM"/>
              </a:rPr>
              <a:t>Como funciona?</a:t>
            </a:r>
            <a:endParaRPr b="1"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Define critérios claros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Força avaliação estruturada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Recebe score ou justificativa</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51"/>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A/B Testing para Features com LLM</a:t>
            </a:r>
            <a:endParaRPr b="1" sz="2500">
              <a:solidFill>
                <a:srgbClr val="27213D"/>
              </a:solidFill>
              <a:latin typeface="REM"/>
              <a:ea typeface="REM"/>
              <a:cs typeface="REM"/>
              <a:sym typeface="REM"/>
            </a:endParaRPr>
          </a:p>
        </p:txBody>
      </p:sp>
      <p:pic>
        <p:nvPicPr>
          <p:cNvPr id="271" name="Google Shape;271;p51"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272" name="Google Shape;272;p51"/>
          <p:cNvSpPr txBox="1"/>
          <p:nvPr/>
        </p:nvSpPr>
        <p:spPr>
          <a:xfrm>
            <a:off x="571400" y="1134300"/>
            <a:ext cx="6579600" cy="3648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Em produtos com LLM, podemos testar:</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Prompt A vs Prompt B</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Modelo A vs Modelo B</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RAG vs sem RAG</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Temperatura diferente</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Pipeline simples vs multi-etapas</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Combine:</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Métricas comportamentais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Métricas de qualidade</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Feedback qualitativo</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52"/>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Observabilidade e Logging </a:t>
            </a:r>
            <a:endParaRPr b="1" sz="2500">
              <a:solidFill>
                <a:srgbClr val="27213D"/>
              </a:solidFill>
              <a:latin typeface="REM"/>
              <a:ea typeface="REM"/>
              <a:cs typeface="REM"/>
              <a:sym typeface="REM"/>
            </a:endParaRPr>
          </a:p>
        </p:txBody>
      </p:sp>
      <p:pic>
        <p:nvPicPr>
          <p:cNvPr id="278" name="Google Shape;278;p52"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279" name="Google Shape;279;p52"/>
          <p:cNvSpPr txBox="1"/>
          <p:nvPr/>
        </p:nvSpPr>
        <p:spPr>
          <a:xfrm>
            <a:off x="571400" y="1134300"/>
            <a:ext cx="6579600" cy="3417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Em software tradicional:</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Se algo quebra → erro 500</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Stack trace</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Log técnico</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Em LLM:</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A resposta pode estar errada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Mas não existe “erro técnico”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Não há exceção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Não há crash</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O sistema continua funcionando mas com qualidade degradada.</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3"/>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O que é Observabilidade?</a:t>
            </a:r>
            <a:endParaRPr b="1" sz="2500">
              <a:solidFill>
                <a:srgbClr val="27213D"/>
              </a:solidFill>
              <a:latin typeface="REM"/>
              <a:ea typeface="REM"/>
              <a:cs typeface="REM"/>
              <a:sym typeface="REM"/>
            </a:endParaRPr>
          </a:p>
        </p:txBody>
      </p:sp>
      <p:pic>
        <p:nvPicPr>
          <p:cNvPr id="285" name="Google Shape;285;p53"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286" name="Google Shape;286;p53"/>
          <p:cNvSpPr txBox="1"/>
          <p:nvPr/>
        </p:nvSpPr>
        <p:spPr>
          <a:xfrm>
            <a:off x="571400" y="1134300"/>
            <a:ext cx="6579600" cy="3724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Observabilidade é a capacidade de entender:</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O que o modelo recebeu</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O que ele respondeu</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Com base em qual contexto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Usando qual versão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Chamando quais ferramentas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Com quais parâmetros</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Sem isso, você não consegue:</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Depurar</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Auditar</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Melhorar</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Defender decisões</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54"/>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O que deve ser logado?</a:t>
            </a:r>
            <a:endParaRPr b="1" sz="2500">
              <a:solidFill>
                <a:srgbClr val="27213D"/>
              </a:solidFill>
              <a:latin typeface="REM"/>
              <a:ea typeface="REM"/>
              <a:cs typeface="REM"/>
              <a:sym typeface="REM"/>
            </a:endParaRPr>
          </a:p>
        </p:txBody>
      </p:sp>
      <p:pic>
        <p:nvPicPr>
          <p:cNvPr id="292" name="Google Shape;292;p54"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293" name="Google Shape;293;p54"/>
          <p:cNvSpPr txBox="1"/>
          <p:nvPr/>
        </p:nvSpPr>
        <p:spPr>
          <a:xfrm>
            <a:off x="571400" y="1134300"/>
            <a:ext cx="6579600" cy="334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Sistemas com LLM precisam registrar, no mínimo:</a:t>
            </a:r>
            <a:endParaRPr sz="1000">
              <a:latin typeface="REM"/>
              <a:ea typeface="REM"/>
              <a:cs typeface="REM"/>
              <a:sym typeface="REM"/>
            </a:endParaRPr>
          </a:p>
          <a:p>
            <a:pPr indent="-292100" lvl="0" marL="457200" rtl="0" algn="l">
              <a:lnSpc>
                <a:spcPct val="200000"/>
              </a:lnSpc>
              <a:spcBef>
                <a:spcPts val="1200"/>
              </a:spcBef>
              <a:spcAft>
                <a:spcPts val="0"/>
              </a:spcAft>
              <a:buSzPts val="1000"/>
              <a:buFont typeface="REM"/>
              <a:buChar char="●"/>
            </a:pPr>
            <a:r>
              <a:rPr lang="pt-BR" sz="1000">
                <a:latin typeface="REM"/>
                <a:ea typeface="REM"/>
                <a:cs typeface="REM"/>
                <a:sym typeface="REM"/>
              </a:rPr>
              <a:t>Prompt completo enviado ao modelo (incluindo system prompt)</a:t>
            </a:r>
            <a:endParaRPr sz="1000">
              <a:latin typeface="REM"/>
              <a:ea typeface="REM"/>
              <a:cs typeface="REM"/>
              <a:sym typeface="REM"/>
            </a:endParaRPr>
          </a:p>
          <a:p>
            <a:pPr indent="-292100" lvl="0" marL="457200" rtl="0" algn="l">
              <a:lnSpc>
                <a:spcPct val="200000"/>
              </a:lnSpc>
              <a:spcBef>
                <a:spcPts val="0"/>
              </a:spcBef>
              <a:spcAft>
                <a:spcPts val="0"/>
              </a:spcAft>
              <a:buSzPts val="1000"/>
              <a:buFont typeface="REM"/>
              <a:buChar char="●"/>
            </a:pPr>
            <a:r>
              <a:rPr lang="pt-BR" sz="1000">
                <a:latin typeface="REM"/>
                <a:ea typeface="REM"/>
                <a:cs typeface="REM"/>
                <a:sym typeface="REM"/>
              </a:rPr>
              <a:t>Resposta gerada</a:t>
            </a:r>
            <a:endParaRPr sz="1000">
              <a:latin typeface="REM"/>
              <a:ea typeface="REM"/>
              <a:cs typeface="REM"/>
              <a:sym typeface="REM"/>
            </a:endParaRPr>
          </a:p>
          <a:p>
            <a:pPr indent="-292100" lvl="0" marL="457200" rtl="0" algn="l">
              <a:lnSpc>
                <a:spcPct val="200000"/>
              </a:lnSpc>
              <a:spcBef>
                <a:spcPts val="0"/>
              </a:spcBef>
              <a:spcAft>
                <a:spcPts val="0"/>
              </a:spcAft>
              <a:buSzPts val="1000"/>
              <a:buFont typeface="REM"/>
              <a:buChar char="●"/>
            </a:pPr>
            <a:r>
              <a:rPr lang="pt-BR" sz="1000">
                <a:latin typeface="REM"/>
                <a:ea typeface="REM"/>
                <a:cs typeface="REM"/>
                <a:sym typeface="REM"/>
              </a:rPr>
              <a:t>Contexto adicional (ex: chunks de RAG)</a:t>
            </a:r>
            <a:endParaRPr sz="1000">
              <a:latin typeface="REM"/>
              <a:ea typeface="REM"/>
              <a:cs typeface="REM"/>
              <a:sym typeface="REM"/>
            </a:endParaRPr>
          </a:p>
          <a:p>
            <a:pPr indent="-292100" lvl="0" marL="457200" rtl="0" algn="l">
              <a:lnSpc>
                <a:spcPct val="200000"/>
              </a:lnSpc>
              <a:spcBef>
                <a:spcPts val="0"/>
              </a:spcBef>
              <a:spcAft>
                <a:spcPts val="0"/>
              </a:spcAft>
              <a:buSzPts val="1000"/>
              <a:buFont typeface="REM"/>
              <a:buChar char="●"/>
            </a:pPr>
            <a:r>
              <a:rPr lang="pt-BR" sz="1000">
                <a:latin typeface="REM"/>
                <a:ea typeface="REM"/>
                <a:cs typeface="REM"/>
                <a:sym typeface="REM"/>
              </a:rPr>
              <a:t>Versão do modelo (ex: gpt-4.1, fine-tuned v3)</a:t>
            </a:r>
            <a:endParaRPr sz="1000">
              <a:latin typeface="REM"/>
              <a:ea typeface="REM"/>
              <a:cs typeface="REM"/>
              <a:sym typeface="REM"/>
            </a:endParaRPr>
          </a:p>
          <a:p>
            <a:pPr indent="-292100" lvl="0" marL="457200" rtl="0" algn="l">
              <a:lnSpc>
                <a:spcPct val="200000"/>
              </a:lnSpc>
              <a:spcBef>
                <a:spcPts val="0"/>
              </a:spcBef>
              <a:spcAft>
                <a:spcPts val="0"/>
              </a:spcAft>
              <a:buSzPts val="1000"/>
              <a:buFont typeface="REM"/>
              <a:buChar char="●"/>
            </a:pPr>
            <a:r>
              <a:rPr lang="pt-BR" sz="1000">
                <a:latin typeface="REM"/>
                <a:ea typeface="REM"/>
                <a:cs typeface="REM"/>
                <a:sym typeface="REM"/>
              </a:rPr>
              <a:t>Parâmetros de geração (temperatura, top-p)</a:t>
            </a:r>
            <a:endParaRPr sz="1000">
              <a:latin typeface="REM"/>
              <a:ea typeface="REM"/>
              <a:cs typeface="REM"/>
              <a:sym typeface="REM"/>
            </a:endParaRPr>
          </a:p>
          <a:p>
            <a:pPr indent="-292100" lvl="0" marL="457200" rtl="0" algn="l">
              <a:lnSpc>
                <a:spcPct val="200000"/>
              </a:lnSpc>
              <a:spcBef>
                <a:spcPts val="0"/>
              </a:spcBef>
              <a:spcAft>
                <a:spcPts val="0"/>
              </a:spcAft>
              <a:buSzPts val="1000"/>
              <a:buFont typeface="REM"/>
              <a:buChar char="●"/>
            </a:pPr>
            <a:r>
              <a:rPr lang="pt-BR" sz="1000">
                <a:latin typeface="REM"/>
                <a:ea typeface="REM"/>
                <a:cs typeface="REM"/>
                <a:sym typeface="REM"/>
              </a:rPr>
              <a:t>Chamadas de ferramentas (nome da função + argumentos)</a:t>
            </a:r>
            <a:endParaRPr sz="1000">
              <a:latin typeface="REM"/>
              <a:ea typeface="REM"/>
              <a:cs typeface="REM"/>
              <a:sym typeface="REM"/>
            </a:endParaRPr>
          </a:p>
          <a:p>
            <a:pPr indent="-292100" lvl="0" marL="457200" rtl="0" algn="l">
              <a:lnSpc>
                <a:spcPct val="200000"/>
              </a:lnSpc>
              <a:spcBef>
                <a:spcPts val="0"/>
              </a:spcBef>
              <a:spcAft>
                <a:spcPts val="0"/>
              </a:spcAft>
              <a:buSzPts val="1000"/>
              <a:buFont typeface="REM"/>
              <a:buChar char="●"/>
            </a:pPr>
            <a:r>
              <a:rPr lang="pt-BR" sz="1000">
                <a:latin typeface="REM"/>
                <a:ea typeface="REM"/>
                <a:cs typeface="REM"/>
                <a:sym typeface="REM"/>
              </a:rPr>
              <a:t>Resultado da ferramenta</a:t>
            </a:r>
            <a:endParaRPr sz="1000">
              <a:latin typeface="REM"/>
              <a:ea typeface="REM"/>
              <a:cs typeface="REM"/>
              <a:sym typeface="REM"/>
            </a:endParaRPr>
          </a:p>
          <a:p>
            <a:pPr indent="-292100" lvl="0" marL="457200" rtl="0" algn="l">
              <a:lnSpc>
                <a:spcPct val="200000"/>
              </a:lnSpc>
              <a:spcBef>
                <a:spcPts val="0"/>
              </a:spcBef>
              <a:spcAft>
                <a:spcPts val="0"/>
              </a:spcAft>
              <a:buSzPts val="1000"/>
              <a:buFont typeface="REM"/>
              <a:buChar char="●"/>
            </a:pPr>
            <a:r>
              <a:rPr lang="pt-BR" sz="1000">
                <a:latin typeface="REM"/>
                <a:ea typeface="REM"/>
                <a:cs typeface="REM"/>
                <a:sym typeface="REM"/>
              </a:rPr>
              <a:t>Score de avaliação automática</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5"/>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Observabilidade em RAG</a:t>
            </a:r>
            <a:endParaRPr b="1" sz="2500">
              <a:solidFill>
                <a:srgbClr val="27213D"/>
              </a:solidFill>
              <a:latin typeface="REM"/>
              <a:ea typeface="REM"/>
              <a:cs typeface="REM"/>
              <a:sym typeface="REM"/>
            </a:endParaRPr>
          </a:p>
        </p:txBody>
      </p:sp>
      <p:pic>
        <p:nvPicPr>
          <p:cNvPr id="299" name="Google Shape;299;p55"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300" name="Google Shape;300;p55"/>
          <p:cNvSpPr txBox="1"/>
          <p:nvPr/>
        </p:nvSpPr>
        <p:spPr>
          <a:xfrm>
            <a:off x="571400" y="1134300"/>
            <a:ext cx="6579600" cy="3417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Em sistemas com RAG, você deve monitorar:</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Quais chunks foram recuperados?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Quantos?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Em que ordem?</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Qual score de similaridade?</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Houve ruído?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O modelo citou as fontes corretamente?</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Se a resposta estiver errada, você precisa saber:</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Foi erro de busca?</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Ou erro de geração?</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6"/>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Observabilidade em Agentes</a:t>
            </a:r>
            <a:endParaRPr b="1" sz="2500">
              <a:solidFill>
                <a:srgbClr val="27213D"/>
              </a:solidFill>
              <a:latin typeface="REM"/>
              <a:ea typeface="REM"/>
              <a:cs typeface="REM"/>
              <a:sym typeface="REM"/>
            </a:endParaRPr>
          </a:p>
        </p:txBody>
      </p:sp>
      <p:pic>
        <p:nvPicPr>
          <p:cNvPr id="306" name="Google Shape;306;p56"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307" name="Google Shape;307;p56"/>
          <p:cNvSpPr txBox="1"/>
          <p:nvPr/>
        </p:nvSpPr>
        <p:spPr>
          <a:xfrm>
            <a:off x="571400" y="1134300"/>
            <a:ext cx="6579600" cy="2262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Para agentes, é ainda mais crítico. Você deve logar:</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Plano gerado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Decisões intermediárias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Chamadas de tools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Falhas de tool</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Re-tentativas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Estados intermediários</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7"/>
          <p:cNvSpPr txBox="1"/>
          <p:nvPr/>
        </p:nvSpPr>
        <p:spPr>
          <a:xfrm>
            <a:off x="571400" y="4132275"/>
            <a:ext cx="73506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chemeClr val="lt1"/>
                </a:solidFill>
                <a:latin typeface="REM"/>
                <a:ea typeface="REM"/>
                <a:cs typeface="REM"/>
                <a:sym typeface="REM"/>
              </a:rPr>
              <a:t>Custos e Escalabilidade</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marR="0" rtl="0" algn="l">
              <a:lnSpc>
                <a:spcPct val="100000"/>
              </a:lnSpc>
              <a:spcBef>
                <a:spcPts val="0"/>
              </a:spcBef>
              <a:spcAft>
                <a:spcPts val="0"/>
              </a:spcAft>
              <a:buNone/>
            </a:pPr>
            <a:r>
              <a:t/>
            </a:r>
            <a:endParaRPr sz="2300">
              <a:solidFill>
                <a:schemeClr val="lt1"/>
              </a:solidFill>
              <a:latin typeface="REM"/>
              <a:ea typeface="REM"/>
              <a:cs typeface="REM"/>
              <a:sym typeface="REM"/>
            </a:endParaRPr>
          </a:p>
        </p:txBody>
      </p:sp>
      <p:pic>
        <p:nvPicPr>
          <p:cNvPr id="313" name="Google Shape;313;p57" title="Logo-Cortex.png"/>
          <p:cNvPicPr preferRelativeResize="0"/>
          <p:nvPr/>
        </p:nvPicPr>
        <p:blipFill>
          <a:blip r:embed="rId3">
            <a:alphaModFix/>
          </a:blip>
          <a:stretch>
            <a:fillRect/>
          </a:stretch>
        </p:blipFill>
        <p:spPr>
          <a:xfrm>
            <a:off x="8293125" y="4230150"/>
            <a:ext cx="261725" cy="2558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8"/>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Custo</a:t>
            </a:r>
            <a:endParaRPr b="1" sz="2500">
              <a:solidFill>
                <a:srgbClr val="27213D"/>
              </a:solidFill>
              <a:latin typeface="REM"/>
              <a:ea typeface="REM"/>
              <a:cs typeface="REM"/>
              <a:sym typeface="REM"/>
            </a:endParaRPr>
          </a:p>
        </p:txBody>
      </p:sp>
      <p:pic>
        <p:nvPicPr>
          <p:cNvPr id="319" name="Google Shape;319;p58"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320" name="Google Shape;320;p58"/>
          <p:cNvSpPr txBox="1"/>
          <p:nvPr/>
        </p:nvSpPr>
        <p:spPr>
          <a:xfrm>
            <a:off x="571400" y="1134300"/>
            <a:ext cx="6579600" cy="4417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Diferente de software tradicional:</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O custo não é fixo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O custo varia por uso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O custo depende de arquitetura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O custo depende do tamanho do contexto</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LLM é custo por token.</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Em geral, o custo depende de:</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Tokens de entrada (prompt + contexto)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Tokens de saída (resposta gerada)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Número de chamadas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Modelo escolhido</a:t>
            </a:r>
            <a:endParaRPr sz="1000">
              <a:latin typeface="REM"/>
              <a:ea typeface="REM"/>
              <a:cs typeface="REM"/>
              <a:sym typeface="REM"/>
            </a:endParaRPr>
          </a:p>
          <a:p>
            <a:pPr indent="0" lvl="0" marL="0" rtl="0" algn="l">
              <a:lnSpc>
                <a:spcPct val="150000"/>
              </a:lnSpc>
              <a:spcBef>
                <a:spcPts val="1200"/>
              </a:spcBef>
              <a:spcAft>
                <a:spcPts val="0"/>
              </a:spcAft>
              <a:buNone/>
            </a:pPr>
            <a:r>
              <a:rPr b="1" lang="pt-BR" sz="1000">
                <a:latin typeface="REM"/>
                <a:ea typeface="REM"/>
                <a:cs typeface="REM"/>
                <a:sym typeface="REM"/>
              </a:rPr>
              <a:t>Quanto maior o contexto, maior o custo. Quanto mais etapas no pipeline, maior o custo.</a:t>
            </a:r>
            <a:endParaRPr b="1"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9"/>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Trade-off</a:t>
            </a:r>
            <a:endParaRPr b="1" sz="2500">
              <a:solidFill>
                <a:srgbClr val="27213D"/>
              </a:solidFill>
              <a:latin typeface="REM"/>
              <a:ea typeface="REM"/>
              <a:cs typeface="REM"/>
              <a:sym typeface="REM"/>
            </a:endParaRPr>
          </a:p>
        </p:txBody>
      </p:sp>
      <p:pic>
        <p:nvPicPr>
          <p:cNvPr id="326" name="Google Shape;326;p59"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327" name="Google Shape;327;p59"/>
          <p:cNvSpPr txBox="1"/>
          <p:nvPr/>
        </p:nvSpPr>
        <p:spPr>
          <a:xfrm>
            <a:off x="571400" y="1134300"/>
            <a:ext cx="7405800" cy="3570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Mais contexto significa mais informação e quando bem utilizado maior performance. Porém, quanto maior a quantidade de tokens, maior o custo e latência.</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Precisamos sempre nos perguntar: </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Eu preciso mesmo enviar todo esse histórico?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Eu preciso do modelo mais caro para essa tarefa?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Esse ganho de qualidade compensa o aumento de custo?</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Reduzir contexto ou utilizar um modelo mais leve pode reduzir significativamente o custo sem comprometer o valor entregue.</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60"/>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Impacto Financeiro de Erro</a:t>
            </a:r>
            <a:endParaRPr b="1" sz="2500">
              <a:solidFill>
                <a:srgbClr val="27213D"/>
              </a:solidFill>
              <a:latin typeface="REM"/>
              <a:ea typeface="REM"/>
              <a:cs typeface="REM"/>
              <a:sym typeface="REM"/>
            </a:endParaRPr>
          </a:p>
        </p:txBody>
      </p:sp>
      <p:pic>
        <p:nvPicPr>
          <p:cNvPr id="333" name="Google Shape;333;p60"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334" name="Google Shape;334;p60"/>
          <p:cNvSpPr txBox="1"/>
          <p:nvPr/>
        </p:nvSpPr>
        <p:spPr>
          <a:xfrm>
            <a:off x="571400" y="1134300"/>
            <a:ext cx="7405800" cy="2185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Erro em LLM pode gerar:</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Retrabalho humano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Perda de confiança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Risco jurídico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Custo reputacional</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rPr lang="pt-BR" sz="1000">
                <a:latin typeface="REM"/>
                <a:ea typeface="REM"/>
                <a:cs typeface="REM"/>
                <a:sym typeface="REM"/>
              </a:rPr>
              <a:t>Às vezes, pagar mais por qualidade sai mais barato.</a:t>
            </a:r>
            <a:endParaRPr sz="1000">
              <a:latin typeface="REM"/>
              <a:ea typeface="REM"/>
              <a:cs typeface="REM"/>
              <a:sym typeface="RE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61"/>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Escalabilidade</a:t>
            </a:r>
            <a:endParaRPr b="1" sz="2500">
              <a:solidFill>
                <a:srgbClr val="27213D"/>
              </a:solidFill>
              <a:latin typeface="REM"/>
              <a:ea typeface="REM"/>
              <a:cs typeface="REM"/>
              <a:sym typeface="REM"/>
            </a:endParaRPr>
          </a:p>
        </p:txBody>
      </p:sp>
      <p:pic>
        <p:nvPicPr>
          <p:cNvPr id="340" name="Google Shape;340;p61"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341" name="Google Shape;341;p61"/>
          <p:cNvSpPr txBox="1"/>
          <p:nvPr/>
        </p:nvSpPr>
        <p:spPr>
          <a:xfrm>
            <a:off x="571400" y="1144050"/>
            <a:ext cx="7823700" cy="3955800"/>
          </a:xfrm>
          <a:prstGeom prst="rect">
            <a:avLst/>
          </a:prstGeom>
          <a:noFill/>
          <a:ln>
            <a:noFill/>
          </a:ln>
        </p:spPr>
        <p:txBody>
          <a:bodyPr anchorCtr="0" anchor="t" bIns="91425" lIns="91425" spcFirstLastPara="1" rIns="91425" wrap="square" tIns="91425">
            <a:spAutoFit/>
          </a:bodyPr>
          <a:lstStyle/>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A margem de lucro por usuário se mantém à medida que o uso aumenta? Se o custo de tokens cresce na mesma proporção que a receita, o modelo de negócio pode ser insustentável.</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Estamos usando "um canhão para matar uma mosca"? Posso mover tarefas simples para modelos menores sem perda de qualidade perceptível?</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Qual é o teto de gastos por usuário/empresa? Como evitar que um único usuário consuma todo o orçamento de API do mês em um dia?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O tempo de resposta está dentro do aceitável? </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Como o sistema se comporta sob carga simultânea? Se 1.000 usuários perguntarem ao mesmo tempo, a latência degrada exponencialmente ou linearmente?</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Existe um plano de contingência (fallback)? Se o provedor do modelo (OpenAI) cair?</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Como sabemos, em tempo real, se o modelo começou a alucinar mais após uma mudança? Temos métricas rodando em produção?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Quão difícil é trocar o modelo base hoje? Estamos presos a um único provedor ou nossa arquitetura é agnóstica?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Temos um "Golden Dataset" para testes de regressão? Sempre que atualizamos o prompt ou o modelo, como garantimos que o que funcionava ontem continua funcionando hoje?</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62"/>
          <p:cNvSpPr txBox="1"/>
          <p:nvPr/>
        </p:nvSpPr>
        <p:spPr>
          <a:xfrm>
            <a:off x="571400" y="4132275"/>
            <a:ext cx="73506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chemeClr val="lt1"/>
                </a:solidFill>
                <a:latin typeface="REM"/>
                <a:ea typeface="REM"/>
                <a:cs typeface="REM"/>
                <a:sym typeface="REM"/>
              </a:rPr>
              <a:t>Guardrails, Confiabilidade e Segurança</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marR="0" rtl="0" algn="l">
              <a:lnSpc>
                <a:spcPct val="100000"/>
              </a:lnSpc>
              <a:spcBef>
                <a:spcPts val="0"/>
              </a:spcBef>
              <a:spcAft>
                <a:spcPts val="0"/>
              </a:spcAft>
              <a:buNone/>
            </a:pPr>
            <a:r>
              <a:t/>
            </a:r>
            <a:endParaRPr sz="2300">
              <a:solidFill>
                <a:schemeClr val="lt1"/>
              </a:solidFill>
              <a:latin typeface="REM"/>
              <a:ea typeface="REM"/>
              <a:cs typeface="REM"/>
              <a:sym typeface="REM"/>
            </a:endParaRPr>
          </a:p>
        </p:txBody>
      </p:sp>
      <p:pic>
        <p:nvPicPr>
          <p:cNvPr id="347" name="Google Shape;347;p62" title="Logo-Cortex.png"/>
          <p:cNvPicPr preferRelativeResize="0"/>
          <p:nvPr/>
        </p:nvPicPr>
        <p:blipFill>
          <a:blip r:embed="rId3">
            <a:alphaModFix/>
          </a:blip>
          <a:stretch>
            <a:fillRect/>
          </a:stretch>
        </p:blipFill>
        <p:spPr>
          <a:xfrm>
            <a:off x="8293125" y="4230150"/>
            <a:ext cx="261725" cy="2558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63"/>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O que são Guardrails?</a:t>
            </a:r>
            <a:endParaRPr b="1" sz="2500">
              <a:solidFill>
                <a:srgbClr val="27213D"/>
              </a:solidFill>
              <a:latin typeface="REM"/>
              <a:ea typeface="REM"/>
              <a:cs typeface="REM"/>
              <a:sym typeface="REM"/>
            </a:endParaRPr>
          </a:p>
        </p:txBody>
      </p:sp>
      <p:pic>
        <p:nvPicPr>
          <p:cNvPr id="353" name="Google Shape;353;p63"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354" name="Google Shape;354;p63"/>
          <p:cNvSpPr txBox="1"/>
          <p:nvPr/>
        </p:nvSpPr>
        <p:spPr>
          <a:xfrm>
            <a:off x="571400" y="1144050"/>
            <a:ext cx="7823700" cy="241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Guardrails são mecanismos arquiteturais que:</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Limitam o comportamento do modelo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Controlam saída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Reduzem risco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Garantem conformidade</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Impedem ações indevidas</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Eles não deixam o modelo “livre”.</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64"/>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Guardrails de Entrada</a:t>
            </a:r>
            <a:endParaRPr b="1" sz="2500">
              <a:solidFill>
                <a:srgbClr val="27213D"/>
              </a:solidFill>
              <a:latin typeface="REM"/>
              <a:ea typeface="REM"/>
              <a:cs typeface="REM"/>
              <a:sym typeface="REM"/>
            </a:endParaRPr>
          </a:p>
          <a:p>
            <a:pPr indent="0" lvl="0" marL="0" rtl="0" algn="l">
              <a:spcBef>
                <a:spcPts val="0"/>
              </a:spcBef>
              <a:spcAft>
                <a:spcPts val="0"/>
              </a:spcAft>
              <a:buNone/>
            </a:pPr>
            <a:r>
              <a:t/>
            </a:r>
            <a:endParaRPr b="1" sz="2300">
              <a:solidFill>
                <a:srgbClr val="27213D"/>
              </a:solidFill>
              <a:latin typeface="REM"/>
              <a:ea typeface="REM"/>
              <a:cs typeface="REM"/>
              <a:sym typeface="REM"/>
            </a:endParaRPr>
          </a:p>
        </p:txBody>
      </p:sp>
      <p:pic>
        <p:nvPicPr>
          <p:cNvPr id="360" name="Google Shape;360;p64"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361" name="Google Shape;361;p64"/>
          <p:cNvSpPr txBox="1"/>
          <p:nvPr/>
        </p:nvSpPr>
        <p:spPr>
          <a:xfrm>
            <a:off x="571400" y="1148450"/>
            <a:ext cx="2274600" cy="4032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Filtro de Conteúdo Sensível</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Bloquear solicitações ilegais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Detectar discurso de ódio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Identificar tentativa de fraude</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Exemplo:</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Usuário pede instrução para hackear sistema → bloqueia antes de chegar ao modelo.</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cxnSp>
        <p:nvCxnSpPr>
          <p:cNvPr id="362" name="Google Shape;362;p64"/>
          <p:cNvCxnSpPr/>
          <p:nvPr/>
        </p:nvCxnSpPr>
        <p:spPr>
          <a:xfrm flipH="1">
            <a:off x="2997850" y="1148450"/>
            <a:ext cx="9900" cy="3128100"/>
          </a:xfrm>
          <a:prstGeom prst="straightConnector1">
            <a:avLst/>
          </a:prstGeom>
          <a:noFill/>
          <a:ln cap="flat" cmpd="sng" w="9525">
            <a:solidFill>
              <a:schemeClr val="dk1"/>
            </a:solidFill>
            <a:prstDash val="solid"/>
            <a:round/>
            <a:headEnd len="med" w="med" type="none"/>
            <a:tailEnd len="med" w="med" type="none"/>
          </a:ln>
        </p:spPr>
      </p:cxnSp>
      <p:sp>
        <p:nvSpPr>
          <p:cNvPr id="363" name="Google Shape;363;p64"/>
          <p:cNvSpPr txBox="1"/>
          <p:nvPr/>
        </p:nvSpPr>
        <p:spPr>
          <a:xfrm>
            <a:off x="3256900" y="1148450"/>
            <a:ext cx="2274600" cy="3955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Detecção de Dados Pessoais</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CPF</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Número de cartão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Dados médicos</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Pode:</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Anonimizar</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Bloquear</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Alertar</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cxnSp>
        <p:nvCxnSpPr>
          <p:cNvPr id="364" name="Google Shape;364;p64"/>
          <p:cNvCxnSpPr/>
          <p:nvPr/>
        </p:nvCxnSpPr>
        <p:spPr>
          <a:xfrm flipH="1">
            <a:off x="5780650" y="1148450"/>
            <a:ext cx="9900" cy="3128100"/>
          </a:xfrm>
          <a:prstGeom prst="straightConnector1">
            <a:avLst/>
          </a:prstGeom>
          <a:noFill/>
          <a:ln cap="flat" cmpd="sng" w="9525">
            <a:solidFill>
              <a:schemeClr val="dk1"/>
            </a:solidFill>
            <a:prstDash val="solid"/>
            <a:round/>
            <a:headEnd len="med" w="med" type="none"/>
            <a:tailEnd len="med" w="med" type="none"/>
          </a:ln>
        </p:spPr>
      </p:cxnSp>
      <p:sp>
        <p:nvSpPr>
          <p:cNvPr id="365" name="Google Shape;365;p64"/>
          <p:cNvSpPr txBox="1"/>
          <p:nvPr/>
        </p:nvSpPr>
        <p:spPr>
          <a:xfrm>
            <a:off x="6039700" y="1148450"/>
            <a:ext cx="2274600" cy="1900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Limite </a:t>
            </a:r>
            <a:r>
              <a:rPr b="1" lang="pt-BR" sz="1000">
                <a:latin typeface="REM"/>
                <a:ea typeface="REM"/>
                <a:cs typeface="REM"/>
                <a:sym typeface="REM"/>
              </a:rPr>
              <a:t>de Tamanho</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Restringir número de tokens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Evitar upload excessivo</a:t>
            </a:r>
            <a:endParaRPr sz="1000">
              <a:latin typeface="REM"/>
              <a:ea typeface="REM"/>
              <a:cs typeface="REM"/>
              <a:sym typeface="REM"/>
            </a:endParaRPr>
          </a:p>
          <a:p>
            <a:pPr indent="0" lvl="0" marL="0" rtl="0" algn="l">
              <a:lnSpc>
                <a:spcPct val="115000"/>
              </a:lnSpc>
              <a:spcBef>
                <a:spcPts val="1200"/>
              </a:spcBef>
              <a:spcAft>
                <a:spcPts val="0"/>
              </a:spcAft>
              <a:buNone/>
            </a:pPr>
            <a:r>
              <a:rPr lang="pt-BR" sz="1000">
                <a:latin typeface="REM"/>
                <a:ea typeface="REM"/>
                <a:cs typeface="REM"/>
                <a:sym typeface="REM"/>
              </a:rPr>
              <a:t>Protege custo e estabilidade.</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5"/>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Guardrails de Prompt</a:t>
            </a:r>
            <a:endParaRPr b="1" sz="2500">
              <a:solidFill>
                <a:srgbClr val="27213D"/>
              </a:solidFill>
              <a:latin typeface="REM"/>
              <a:ea typeface="REM"/>
              <a:cs typeface="REM"/>
              <a:sym typeface="REM"/>
            </a:endParaRPr>
          </a:p>
          <a:p>
            <a:pPr indent="0" lvl="0" marL="0" rtl="0" algn="l">
              <a:spcBef>
                <a:spcPts val="0"/>
              </a:spcBef>
              <a:spcAft>
                <a:spcPts val="0"/>
              </a:spcAft>
              <a:buNone/>
            </a:pPr>
            <a:r>
              <a:t/>
            </a:r>
            <a:endParaRPr b="1" sz="2300">
              <a:solidFill>
                <a:srgbClr val="27213D"/>
              </a:solidFill>
              <a:latin typeface="REM"/>
              <a:ea typeface="REM"/>
              <a:cs typeface="REM"/>
              <a:sym typeface="REM"/>
            </a:endParaRPr>
          </a:p>
        </p:txBody>
      </p:sp>
      <p:pic>
        <p:nvPicPr>
          <p:cNvPr id="371" name="Google Shape;371;p65"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372" name="Google Shape;372;p65"/>
          <p:cNvSpPr txBox="1"/>
          <p:nvPr/>
        </p:nvSpPr>
        <p:spPr>
          <a:xfrm>
            <a:off x="571400" y="1148450"/>
            <a:ext cx="2274600" cy="272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Papel e Limites Explícitos</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Exemplo:</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“Você não deve fornecer aconselhamento jurídico vinculante.”</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cxnSp>
        <p:nvCxnSpPr>
          <p:cNvPr id="373" name="Google Shape;373;p65"/>
          <p:cNvCxnSpPr/>
          <p:nvPr/>
        </p:nvCxnSpPr>
        <p:spPr>
          <a:xfrm flipH="1">
            <a:off x="2997850" y="1148450"/>
            <a:ext cx="9900" cy="3128100"/>
          </a:xfrm>
          <a:prstGeom prst="straightConnector1">
            <a:avLst/>
          </a:prstGeom>
          <a:noFill/>
          <a:ln cap="flat" cmpd="sng" w="9525">
            <a:solidFill>
              <a:schemeClr val="dk1"/>
            </a:solidFill>
            <a:prstDash val="solid"/>
            <a:round/>
            <a:headEnd len="med" w="med" type="none"/>
            <a:tailEnd len="med" w="med" type="none"/>
          </a:ln>
        </p:spPr>
      </p:cxnSp>
      <p:sp>
        <p:nvSpPr>
          <p:cNvPr id="374" name="Google Shape;374;p65"/>
          <p:cNvSpPr txBox="1"/>
          <p:nvPr/>
        </p:nvSpPr>
        <p:spPr>
          <a:xfrm>
            <a:off x="3256900" y="1148450"/>
            <a:ext cx="2274600" cy="2493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Escopo Restrito</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Exemplo:</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“Responda apenas com base nos documentos fornecidos.”</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cxnSp>
        <p:nvCxnSpPr>
          <p:cNvPr id="375" name="Google Shape;375;p65"/>
          <p:cNvCxnSpPr/>
          <p:nvPr/>
        </p:nvCxnSpPr>
        <p:spPr>
          <a:xfrm flipH="1">
            <a:off x="5780650" y="1148450"/>
            <a:ext cx="9900" cy="3128100"/>
          </a:xfrm>
          <a:prstGeom prst="straightConnector1">
            <a:avLst/>
          </a:prstGeom>
          <a:noFill/>
          <a:ln cap="flat" cmpd="sng" w="9525">
            <a:solidFill>
              <a:schemeClr val="dk1"/>
            </a:solidFill>
            <a:prstDash val="solid"/>
            <a:round/>
            <a:headEnd len="med" w="med" type="none"/>
            <a:tailEnd len="med" w="med" type="none"/>
          </a:ln>
        </p:spPr>
      </p:cxnSp>
      <p:sp>
        <p:nvSpPr>
          <p:cNvPr id="376" name="Google Shape;376;p65"/>
          <p:cNvSpPr txBox="1"/>
          <p:nvPr/>
        </p:nvSpPr>
        <p:spPr>
          <a:xfrm>
            <a:off x="6039700" y="1148450"/>
            <a:ext cx="2274600" cy="1739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Instrução de Incerteza</a:t>
            </a:r>
            <a:endParaRPr sz="1000">
              <a:latin typeface="REM"/>
              <a:ea typeface="REM"/>
              <a:cs typeface="REM"/>
              <a:sym typeface="REM"/>
            </a:endParaRPr>
          </a:p>
          <a:p>
            <a:pPr indent="0" lvl="0" marL="0" rtl="0" algn="l">
              <a:lnSpc>
                <a:spcPct val="115000"/>
              </a:lnSpc>
              <a:spcBef>
                <a:spcPts val="1200"/>
              </a:spcBef>
              <a:spcAft>
                <a:spcPts val="0"/>
              </a:spcAft>
              <a:buNone/>
            </a:pPr>
            <a:r>
              <a:rPr lang="pt-BR" sz="1000">
                <a:latin typeface="REM"/>
                <a:ea typeface="REM"/>
                <a:cs typeface="REM"/>
                <a:sym typeface="REM"/>
              </a:rPr>
              <a:t>Exemplo:</a:t>
            </a:r>
            <a:endParaRPr sz="1000">
              <a:latin typeface="REM"/>
              <a:ea typeface="REM"/>
              <a:cs typeface="REM"/>
              <a:sym typeface="REM"/>
            </a:endParaRPr>
          </a:p>
          <a:p>
            <a:pPr indent="0" lvl="0" marL="0" rtl="0" algn="l">
              <a:lnSpc>
                <a:spcPct val="115000"/>
              </a:lnSpc>
              <a:spcBef>
                <a:spcPts val="1200"/>
              </a:spcBef>
              <a:spcAft>
                <a:spcPts val="0"/>
              </a:spcAft>
              <a:buNone/>
            </a:pPr>
            <a:r>
              <a:rPr lang="pt-BR" sz="1000">
                <a:latin typeface="REM"/>
                <a:ea typeface="REM"/>
                <a:cs typeface="REM"/>
                <a:sym typeface="REM"/>
              </a:rPr>
              <a:t>“Se não houver informação suficiente, diga que não encontrou evidência.”</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6"/>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Guardrails de Saída</a:t>
            </a:r>
            <a:endParaRPr b="1" sz="2500">
              <a:solidFill>
                <a:srgbClr val="27213D"/>
              </a:solidFill>
              <a:latin typeface="REM"/>
              <a:ea typeface="REM"/>
              <a:cs typeface="REM"/>
              <a:sym typeface="REM"/>
            </a:endParaRPr>
          </a:p>
          <a:p>
            <a:pPr indent="0" lvl="0" marL="0" rtl="0" algn="l">
              <a:spcBef>
                <a:spcPts val="0"/>
              </a:spcBef>
              <a:spcAft>
                <a:spcPts val="0"/>
              </a:spcAft>
              <a:buNone/>
            </a:pPr>
            <a:r>
              <a:t/>
            </a:r>
            <a:endParaRPr b="1" sz="2300">
              <a:solidFill>
                <a:srgbClr val="27213D"/>
              </a:solidFill>
              <a:latin typeface="REM"/>
              <a:ea typeface="REM"/>
              <a:cs typeface="REM"/>
              <a:sym typeface="REM"/>
            </a:endParaRPr>
          </a:p>
        </p:txBody>
      </p:sp>
      <p:pic>
        <p:nvPicPr>
          <p:cNvPr id="382" name="Google Shape;382;p66"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383" name="Google Shape;383;p66"/>
          <p:cNvSpPr txBox="1"/>
          <p:nvPr/>
        </p:nvSpPr>
        <p:spPr>
          <a:xfrm>
            <a:off x="571400" y="1148450"/>
            <a:ext cx="2274600" cy="3570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Saída Estruturada</a:t>
            </a:r>
            <a:r>
              <a:rPr b="1" lang="pt-BR" sz="1000">
                <a:latin typeface="REM"/>
                <a:ea typeface="REM"/>
                <a:cs typeface="REM"/>
                <a:sym typeface="REM"/>
              </a:rPr>
              <a:t> (JSON obrigatório)</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Força formato fixo:</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Evita texto livre</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Facilita validação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Permite bloquear campos vazios</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cxnSp>
        <p:nvCxnSpPr>
          <p:cNvPr id="384" name="Google Shape;384;p66"/>
          <p:cNvCxnSpPr/>
          <p:nvPr/>
        </p:nvCxnSpPr>
        <p:spPr>
          <a:xfrm flipH="1">
            <a:off x="2997850" y="1148450"/>
            <a:ext cx="9900" cy="3128100"/>
          </a:xfrm>
          <a:prstGeom prst="straightConnector1">
            <a:avLst/>
          </a:prstGeom>
          <a:noFill/>
          <a:ln cap="flat" cmpd="sng" w="9525">
            <a:solidFill>
              <a:schemeClr val="dk1"/>
            </a:solidFill>
            <a:prstDash val="solid"/>
            <a:round/>
            <a:headEnd len="med" w="med" type="none"/>
            <a:tailEnd len="med" w="med" type="none"/>
          </a:ln>
        </p:spPr>
      </p:cxnSp>
      <p:sp>
        <p:nvSpPr>
          <p:cNvPr id="385" name="Google Shape;385;p66"/>
          <p:cNvSpPr txBox="1"/>
          <p:nvPr/>
        </p:nvSpPr>
        <p:spPr>
          <a:xfrm>
            <a:off x="3256900" y="1148450"/>
            <a:ext cx="2274600" cy="4648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Validação de Schema</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Se faltar campo obrigatório:</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Rejeita resposta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Solicita regeneração</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rPr b="1" lang="pt-BR" sz="1000">
                <a:latin typeface="REM"/>
                <a:ea typeface="REM"/>
                <a:cs typeface="REM"/>
                <a:sym typeface="REM"/>
              </a:rPr>
              <a:t>Score de Confiança</a:t>
            </a:r>
            <a:endParaRPr b="1"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Se confiança &lt; limite:</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Não publica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Solicita revisão humana</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cxnSp>
        <p:nvCxnSpPr>
          <p:cNvPr id="386" name="Google Shape;386;p66"/>
          <p:cNvCxnSpPr/>
          <p:nvPr/>
        </p:nvCxnSpPr>
        <p:spPr>
          <a:xfrm flipH="1">
            <a:off x="5780650" y="1148450"/>
            <a:ext cx="9900" cy="3128100"/>
          </a:xfrm>
          <a:prstGeom prst="straightConnector1">
            <a:avLst/>
          </a:prstGeom>
          <a:noFill/>
          <a:ln cap="flat" cmpd="sng" w="9525">
            <a:solidFill>
              <a:schemeClr val="dk1"/>
            </a:solidFill>
            <a:prstDash val="solid"/>
            <a:round/>
            <a:headEnd len="med" w="med" type="none"/>
            <a:tailEnd len="med" w="med" type="none"/>
          </a:ln>
        </p:spPr>
      </p:cxnSp>
      <p:sp>
        <p:nvSpPr>
          <p:cNvPr id="387" name="Google Shape;387;p66"/>
          <p:cNvSpPr txBox="1"/>
          <p:nvPr/>
        </p:nvSpPr>
        <p:spPr>
          <a:xfrm>
            <a:off x="6039700" y="1148450"/>
            <a:ext cx="2274600" cy="2131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Classificação Pós-Geração</a:t>
            </a:r>
            <a:endParaRPr sz="1000">
              <a:latin typeface="REM"/>
              <a:ea typeface="REM"/>
              <a:cs typeface="REM"/>
              <a:sym typeface="REM"/>
            </a:endParaRPr>
          </a:p>
          <a:p>
            <a:pPr indent="0" lvl="0" marL="0" rtl="0" algn="l">
              <a:lnSpc>
                <a:spcPct val="115000"/>
              </a:lnSpc>
              <a:spcBef>
                <a:spcPts val="1200"/>
              </a:spcBef>
              <a:spcAft>
                <a:spcPts val="0"/>
              </a:spcAft>
              <a:buNone/>
            </a:pPr>
            <a:r>
              <a:rPr lang="pt-BR" sz="1000">
                <a:latin typeface="REM"/>
                <a:ea typeface="REM"/>
                <a:cs typeface="REM"/>
                <a:sym typeface="REM"/>
              </a:rPr>
              <a:t>Rodar modelo secundário para:</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Detectar toxicidade</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Detectar risco jurídico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Detectar afirmação categórica</a:t>
            </a:r>
            <a:endParaRPr sz="1000">
              <a:latin typeface="REM"/>
              <a:ea typeface="REM"/>
              <a:cs typeface="REM"/>
              <a:sym typeface="REM"/>
            </a:endParaRPr>
          </a:p>
          <a:p>
            <a:pPr indent="0" lvl="0" marL="0" rtl="0" algn="l">
              <a:lnSpc>
                <a:spcPct val="115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7"/>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Guardrails de RAG</a:t>
            </a:r>
            <a:endParaRPr b="1" sz="2500">
              <a:solidFill>
                <a:srgbClr val="27213D"/>
              </a:solidFill>
              <a:latin typeface="REM"/>
              <a:ea typeface="REM"/>
              <a:cs typeface="REM"/>
              <a:sym typeface="REM"/>
            </a:endParaRPr>
          </a:p>
          <a:p>
            <a:pPr indent="0" lvl="0" marL="0" rtl="0" algn="l">
              <a:spcBef>
                <a:spcPts val="0"/>
              </a:spcBef>
              <a:spcAft>
                <a:spcPts val="0"/>
              </a:spcAft>
              <a:buNone/>
            </a:pPr>
            <a:r>
              <a:t/>
            </a:r>
            <a:endParaRPr b="1" sz="2300">
              <a:solidFill>
                <a:srgbClr val="27213D"/>
              </a:solidFill>
              <a:latin typeface="REM"/>
              <a:ea typeface="REM"/>
              <a:cs typeface="REM"/>
              <a:sym typeface="REM"/>
            </a:endParaRPr>
          </a:p>
        </p:txBody>
      </p:sp>
      <p:pic>
        <p:nvPicPr>
          <p:cNvPr id="393" name="Google Shape;393;p67"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394" name="Google Shape;394;p67"/>
          <p:cNvSpPr txBox="1"/>
          <p:nvPr/>
        </p:nvSpPr>
        <p:spPr>
          <a:xfrm>
            <a:off x="571400" y="1148450"/>
            <a:ext cx="2274600" cy="3724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Exigir Evidência</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Modelo deve citar:</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Fonte</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Trecho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Documento</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Se não houver evidência → bloquear.</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cxnSp>
        <p:nvCxnSpPr>
          <p:cNvPr id="395" name="Google Shape;395;p67"/>
          <p:cNvCxnSpPr/>
          <p:nvPr/>
        </p:nvCxnSpPr>
        <p:spPr>
          <a:xfrm flipH="1">
            <a:off x="2997850" y="1148450"/>
            <a:ext cx="9900" cy="3128100"/>
          </a:xfrm>
          <a:prstGeom prst="straightConnector1">
            <a:avLst/>
          </a:prstGeom>
          <a:noFill/>
          <a:ln cap="flat" cmpd="sng" w="9525">
            <a:solidFill>
              <a:schemeClr val="dk1"/>
            </a:solidFill>
            <a:prstDash val="solid"/>
            <a:round/>
            <a:headEnd len="med" w="med" type="none"/>
            <a:tailEnd len="med" w="med" type="none"/>
          </a:ln>
        </p:spPr>
      </p:cxnSp>
      <p:sp>
        <p:nvSpPr>
          <p:cNvPr id="396" name="Google Shape;396;p67"/>
          <p:cNvSpPr txBox="1"/>
          <p:nvPr/>
        </p:nvSpPr>
        <p:spPr>
          <a:xfrm>
            <a:off x="3256900" y="1148450"/>
            <a:ext cx="2274600" cy="3109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Bloquear Resposta Fora do Contexto</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Se pergunta não está na base:</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 “Não encontrei informação suficiente.”</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68"/>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Guardrails de Agentes</a:t>
            </a:r>
            <a:endParaRPr b="1" sz="2500">
              <a:solidFill>
                <a:srgbClr val="27213D"/>
              </a:solidFill>
              <a:latin typeface="REM"/>
              <a:ea typeface="REM"/>
              <a:cs typeface="REM"/>
              <a:sym typeface="REM"/>
            </a:endParaRPr>
          </a:p>
          <a:p>
            <a:pPr indent="0" lvl="0" marL="0" rtl="0" algn="l">
              <a:spcBef>
                <a:spcPts val="0"/>
              </a:spcBef>
              <a:spcAft>
                <a:spcPts val="0"/>
              </a:spcAft>
              <a:buNone/>
            </a:pPr>
            <a:r>
              <a:t/>
            </a:r>
            <a:endParaRPr b="1" sz="2300">
              <a:solidFill>
                <a:srgbClr val="27213D"/>
              </a:solidFill>
              <a:latin typeface="REM"/>
              <a:ea typeface="REM"/>
              <a:cs typeface="REM"/>
              <a:sym typeface="REM"/>
            </a:endParaRPr>
          </a:p>
        </p:txBody>
      </p:sp>
      <p:pic>
        <p:nvPicPr>
          <p:cNvPr id="402" name="Google Shape;402;p68"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403" name="Google Shape;403;p68"/>
          <p:cNvSpPr txBox="1"/>
          <p:nvPr/>
        </p:nvSpPr>
        <p:spPr>
          <a:xfrm>
            <a:off x="571400" y="1148450"/>
            <a:ext cx="2274600" cy="3879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Human-in-the-loop</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Antes de:</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Enviar e-mail</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Aprovar transação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Deletar dado</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Exigir confirmação humana.</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cxnSp>
        <p:nvCxnSpPr>
          <p:cNvPr id="404" name="Google Shape;404;p68"/>
          <p:cNvCxnSpPr/>
          <p:nvPr/>
        </p:nvCxnSpPr>
        <p:spPr>
          <a:xfrm flipH="1">
            <a:off x="2997850" y="1148450"/>
            <a:ext cx="9900" cy="3128100"/>
          </a:xfrm>
          <a:prstGeom prst="straightConnector1">
            <a:avLst/>
          </a:prstGeom>
          <a:noFill/>
          <a:ln cap="flat" cmpd="sng" w="9525">
            <a:solidFill>
              <a:schemeClr val="dk1"/>
            </a:solidFill>
            <a:prstDash val="solid"/>
            <a:round/>
            <a:headEnd len="med" w="med" type="none"/>
            <a:tailEnd len="med" w="med" type="none"/>
          </a:ln>
        </p:spPr>
      </p:cxnSp>
      <p:sp>
        <p:nvSpPr>
          <p:cNvPr id="405" name="Google Shape;405;p68"/>
          <p:cNvSpPr txBox="1"/>
          <p:nvPr/>
        </p:nvSpPr>
        <p:spPr>
          <a:xfrm>
            <a:off x="3256900" y="1148450"/>
            <a:ext cx="2274600" cy="380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Limite de Ação</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Agente pode:</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Sugerir envio</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Mas não pode:</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Enviar automaticamente</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cxnSp>
        <p:nvCxnSpPr>
          <p:cNvPr id="406" name="Google Shape;406;p68"/>
          <p:cNvCxnSpPr/>
          <p:nvPr/>
        </p:nvCxnSpPr>
        <p:spPr>
          <a:xfrm flipH="1">
            <a:off x="5780650" y="1148450"/>
            <a:ext cx="9900" cy="3128100"/>
          </a:xfrm>
          <a:prstGeom prst="straightConnector1">
            <a:avLst/>
          </a:prstGeom>
          <a:noFill/>
          <a:ln cap="flat" cmpd="sng" w="9525">
            <a:solidFill>
              <a:schemeClr val="dk1"/>
            </a:solidFill>
            <a:prstDash val="solid"/>
            <a:round/>
            <a:headEnd len="med" w="med" type="none"/>
            <a:tailEnd len="med" w="med" type="none"/>
          </a:ln>
        </p:spPr>
      </p:cxnSp>
      <p:sp>
        <p:nvSpPr>
          <p:cNvPr id="407" name="Google Shape;407;p68"/>
          <p:cNvSpPr txBox="1"/>
          <p:nvPr/>
        </p:nvSpPr>
        <p:spPr>
          <a:xfrm>
            <a:off x="6039700" y="1148450"/>
            <a:ext cx="2274600" cy="95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b="1" lang="pt-BR" sz="1000">
                <a:latin typeface="REM"/>
                <a:ea typeface="REM"/>
                <a:cs typeface="REM"/>
                <a:sym typeface="REM"/>
              </a:rPr>
              <a:t>Limite de Tentativas</a:t>
            </a:r>
            <a:endParaRPr sz="1000">
              <a:latin typeface="REM"/>
              <a:ea typeface="REM"/>
              <a:cs typeface="REM"/>
              <a:sym typeface="REM"/>
            </a:endParaRPr>
          </a:p>
          <a:p>
            <a:pPr indent="0" lvl="0" marL="0" rtl="0" algn="l">
              <a:lnSpc>
                <a:spcPct val="150000"/>
              </a:lnSpc>
              <a:spcBef>
                <a:spcPts val="1200"/>
              </a:spcBef>
              <a:spcAft>
                <a:spcPts val="1200"/>
              </a:spcAft>
              <a:buNone/>
            </a:pPr>
            <a:r>
              <a:rPr lang="pt-BR" sz="1000">
                <a:latin typeface="REM"/>
                <a:ea typeface="REM"/>
                <a:cs typeface="REM"/>
                <a:sym typeface="REM"/>
              </a:rPr>
              <a:t>Delimita número de tentativas. Evita loop infinito.</a:t>
            </a:r>
            <a:endParaRPr sz="1000">
              <a:latin typeface="REM"/>
              <a:ea typeface="REM"/>
              <a:cs typeface="REM"/>
              <a:sym typeface="RE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9"/>
          <p:cNvSpPr txBox="1"/>
          <p:nvPr/>
        </p:nvSpPr>
        <p:spPr>
          <a:xfrm>
            <a:off x="571400" y="4132275"/>
            <a:ext cx="73506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chemeClr val="lt1"/>
                </a:solidFill>
                <a:latin typeface="REM"/>
                <a:ea typeface="REM"/>
                <a:cs typeface="REM"/>
                <a:sym typeface="REM"/>
              </a:rPr>
              <a:t>Ética, Viés e Responsabilidade</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marR="0" rtl="0" algn="l">
              <a:lnSpc>
                <a:spcPct val="100000"/>
              </a:lnSpc>
              <a:spcBef>
                <a:spcPts val="0"/>
              </a:spcBef>
              <a:spcAft>
                <a:spcPts val="0"/>
              </a:spcAft>
              <a:buNone/>
            </a:pPr>
            <a:r>
              <a:t/>
            </a:r>
            <a:endParaRPr sz="2300">
              <a:solidFill>
                <a:schemeClr val="lt1"/>
              </a:solidFill>
              <a:latin typeface="REM"/>
              <a:ea typeface="REM"/>
              <a:cs typeface="REM"/>
              <a:sym typeface="REM"/>
            </a:endParaRPr>
          </a:p>
        </p:txBody>
      </p:sp>
      <p:pic>
        <p:nvPicPr>
          <p:cNvPr id="413" name="Google Shape;413;p69" title="Logo-Cortex.png"/>
          <p:cNvPicPr preferRelativeResize="0"/>
          <p:nvPr/>
        </p:nvPicPr>
        <p:blipFill>
          <a:blip r:embed="rId3">
            <a:alphaModFix/>
          </a:blip>
          <a:stretch>
            <a:fillRect/>
          </a:stretch>
        </p:blipFill>
        <p:spPr>
          <a:xfrm>
            <a:off x="8293125" y="4230150"/>
            <a:ext cx="261725" cy="2558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70"/>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LLMs não são neutros</a:t>
            </a:r>
            <a:endParaRPr b="1" sz="2500">
              <a:solidFill>
                <a:srgbClr val="27213D"/>
              </a:solidFill>
              <a:latin typeface="REM"/>
              <a:ea typeface="REM"/>
              <a:cs typeface="REM"/>
              <a:sym typeface="REM"/>
            </a:endParaRPr>
          </a:p>
        </p:txBody>
      </p:sp>
      <p:pic>
        <p:nvPicPr>
          <p:cNvPr id="419" name="Google Shape;419;p70"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420" name="Google Shape;420;p70"/>
          <p:cNvSpPr txBox="1"/>
          <p:nvPr/>
        </p:nvSpPr>
        <p:spPr>
          <a:xfrm>
            <a:off x="571400" y="1144050"/>
            <a:ext cx="7823700" cy="3186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Modelos de linguagem aprendem padrões estatísticos de grandes corpora.</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Se os dados contêm:</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Estereótipos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Assimetrias sociais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Representações desiguais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O modelo tende a reproduzi-los.</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rPr lang="pt-BR" sz="1000" u="sng">
                <a:solidFill>
                  <a:schemeClr val="hlink"/>
                </a:solidFill>
                <a:latin typeface="REM"/>
                <a:ea typeface="REM"/>
                <a:cs typeface="REM"/>
                <a:sym typeface="REM"/>
                <a:hlinkClick r:id="rId4"/>
              </a:rPr>
              <a:t>Blodgett et al. (2020)</a:t>
            </a:r>
            <a:r>
              <a:rPr lang="pt-BR" sz="1000">
                <a:latin typeface="REM"/>
                <a:ea typeface="REM"/>
                <a:cs typeface="REM"/>
                <a:sym typeface="REM"/>
              </a:rPr>
              <a:t> alertam que sistemas de NLP frequentemente refletem hierarquias sociais presentes nos dados e que viés não é apenas erro estatístico, mas dano social.</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71"/>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Viés em LLMs</a:t>
            </a:r>
            <a:endParaRPr b="1" sz="2500">
              <a:solidFill>
                <a:srgbClr val="27213D"/>
              </a:solidFill>
              <a:latin typeface="REM"/>
              <a:ea typeface="REM"/>
              <a:cs typeface="REM"/>
              <a:sym typeface="REM"/>
            </a:endParaRPr>
          </a:p>
        </p:txBody>
      </p:sp>
      <p:pic>
        <p:nvPicPr>
          <p:cNvPr id="426" name="Google Shape;426;p71"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427" name="Google Shape;427;p71"/>
          <p:cNvSpPr txBox="1"/>
          <p:nvPr/>
        </p:nvSpPr>
        <p:spPr>
          <a:xfrm>
            <a:off x="571400" y="1144050"/>
            <a:ext cx="7823700" cy="2570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Em LLMs generativos, o problema é ampliado:</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O modelo pode gerar conteúdo ofensivo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Pode reforçar estereótipos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Pode alucinar características de grupos</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rPr lang="pt-BR" sz="1000" u="sng">
                <a:solidFill>
                  <a:schemeClr val="hlink"/>
                </a:solidFill>
                <a:latin typeface="REM"/>
                <a:ea typeface="REM"/>
                <a:cs typeface="REM"/>
                <a:sym typeface="REM"/>
                <a:hlinkClick r:id="rId4"/>
              </a:rPr>
              <a:t>Bender et al. (2021)</a:t>
            </a:r>
            <a:r>
              <a:rPr lang="pt-BR" sz="1000">
                <a:latin typeface="REM"/>
                <a:ea typeface="REM"/>
                <a:cs typeface="REM"/>
                <a:sym typeface="REM"/>
              </a:rPr>
              <a:t> alertam que modelos de larga escala amplificam padrões problemáticos ao “estocarem” linguagem da internet.</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72"/>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Transparência e Explicabilidade</a:t>
            </a:r>
            <a:endParaRPr b="1" sz="2500">
              <a:solidFill>
                <a:srgbClr val="27213D"/>
              </a:solidFill>
              <a:latin typeface="REM"/>
              <a:ea typeface="REM"/>
              <a:cs typeface="REM"/>
              <a:sym typeface="REM"/>
            </a:endParaRPr>
          </a:p>
        </p:txBody>
      </p:sp>
      <p:pic>
        <p:nvPicPr>
          <p:cNvPr id="433" name="Google Shape;433;p72"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434" name="Google Shape;434;p72"/>
          <p:cNvSpPr txBox="1"/>
          <p:nvPr/>
        </p:nvSpPr>
        <p:spPr>
          <a:xfrm>
            <a:off x="571400" y="1144050"/>
            <a:ext cx="7823700" cy="380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Explicabilidade em LLMs é desafiadora porque:</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São modelos de caixa-preta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Pequenas mudanças no prompt alteram saída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Há não-determinismo</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Em LLMs, isso implica:</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Logs detalhados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Versionamento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Evidência explícita (RAG)</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Declaração de limites</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73"/>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Fairness-by-Design</a:t>
            </a:r>
            <a:endParaRPr b="1" sz="2500">
              <a:solidFill>
                <a:srgbClr val="27213D"/>
              </a:solidFill>
              <a:latin typeface="REM"/>
              <a:ea typeface="REM"/>
              <a:cs typeface="REM"/>
              <a:sym typeface="REM"/>
            </a:endParaRPr>
          </a:p>
        </p:txBody>
      </p:sp>
      <p:pic>
        <p:nvPicPr>
          <p:cNvPr id="440" name="Google Shape;440;p73"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441" name="Google Shape;441;p73"/>
          <p:cNvSpPr txBox="1"/>
          <p:nvPr/>
        </p:nvSpPr>
        <p:spPr>
          <a:xfrm>
            <a:off x="571400" y="1144050"/>
            <a:ext cx="7823700" cy="241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Fairness não pode ser auditoria posterior.</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Deve estar no ciclo de desenvolvimento: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Definição clara de escopo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Escolha de dados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Critérios de avaliação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Monitoramento contínuo</a:t>
            </a:r>
            <a:endParaRPr sz="1000">
              <a:latin typeface="REM"/>
              <a:ea typeface="REM"/>
              <a:cs typeface="REM"/>
              <a:sym typeface="REM"/>
            </a:endParaRPr>
          </a:p>
          <a:p>
            <a:pPr indent="0" lvl="0" marL="0" rtl="0" algn="l">
              <a:lnSpc>
                <a:spcPct val="150000"/>
              </a:lnSpc>
              <a:spcBef>
                <a:spcPts val="1200"/>
              </a:spcBef>
              <a:spcAft>
                <a:spcPts val="0"/>
              </a:spcAft>
              <a:buNone/>
            </a:pPr>
            <a:r>
              <a:rPr lang="pt-BR" sz="1000" u="sng">
                <a:solidFill>
                  <a:schemeClr val="hlink"/>
                </a:solidFill>
                <a:latin typeface="REM"/>
                <a:ea typeface="REM"/>
                <a:cs typeface="REM"/>
                <a:sym typeface="REM"/>
                <a:hlinkClick r:id="rId4"/>
              </a:rPr>
              <a:t>Friedman &amp; Nissenbaum (1996)</a:t>
            </a:r>
            <a:r>
              <a:rPr lang="pt-BR" sz="1000">
                <a:latin typeface="REM"/>
                <a:ea typeface="REM"/>
                <a:cs typeface="REM"/>
                <a:sym typeface="REM"/>
              </a:rPr>
              <a:t> já argumentavam que </a:t>
            </a:r>
            <a:r>
              <a:rPr b="1" lang="pt-BR" sz="1000">
                <a:latin typeface="REM"/>
                <a:ea typeface="REM"/>
                <a:cs typeface="REM"/>
                <a:sym typeface="REM"/>
              </a:rPr>
              <a:t>valores </a:t>
            </a:r>
            <a:r>
              <a:rPr lang="pt-BR" sz="1000">
                <a:latin typeface="REM"/>
                <a:ea typeface="REM"/>
                <a:cs typeface="REM"/>
                <a:sym typeface="REM"/>
              </a:rPr>
              <a:t>são embutidos no </a:t>
            </a:r>
            <a:r>
              <a:rPr b="1" lang="pt-BR" sz="1000">
                <a:latin typeface="REM"/>
                <a:ea typeface="REM"/>
                <a:cs typeface="REM"/>
                <a:sym typeface="REM"/>
              </a:rPr>
              <a:t>design tecnológico</a:t>
            </a:r>
            <a:r>
              <a:rPr lang="pt-BR" sz="1000">
                <a:latin typeface="REM"/>
                <a:ea typeface="REM"/>
                <a:cs typeface="REM"/>
                <a:sym typeface="REM"/>
              </a:rPr>
              <a:t>.</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4"/>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Uso Responsável de Dados</a:t>
            </a:r>
            <a:endParaRPr b="1" sz="2500">
              <a:solidFill>
                <a:srgbClr val="27213D"/>
              </a:solidFill>
              <a:latin typeface="REM"/>
              <a:ea typeface="REM"/>
              <a:cs typeface="REM"/>
              <a:sym typeface="REM"/>
            </a:endParaRPr>
          </a:p>
        </p:txBody>
      </p:sp>
      <p:pic>
        <p:nvPicPr>
          <p:cNvPr id="447" name="Google Shape;447;p74"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448" name="Google Shape;448;p74"/>
          <p:cNvSpPr txBox="1"/>
          <p:nvPr/>
        </p:nvSpPr>
        <p:spPr>
          <a:xfrm>
            <a:off x="571400" y="1144050"/>
            <a:ext cx="7823700" cy="3263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Princípios centrais:</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Minimização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Finalidade</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Transparência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Responsabilização</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LGPD exige:</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Base legal clara</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Direito à explicação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Não discriminação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Prestação de contas</a:t>
            </a:r>
            <a:endParaRPr sz="1000">
              <a:latin typeface="REM"/>
              <a:ea typeface="REM"/>
              <a:cs typeface="REM"/>
              <a:sym typeface="RE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5"/>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Conclusão</a:t>
            </a:r>
            <a:endParaRPr b="1" sz="2500">
              <a:solidFill>
                <a:srgbClr val="27213D"/>
              </a:solidFill>
              <a:latin typeface="REM"/>
              <a:ea typeface="REM"/>
              <a:cs typeface="REM"/>
              <a:sym typeface="REM"/>
            </a:endParaRPr>
          </a:p>
        </p:txBody>
      </p:sp>
      <p:pic>
        <p:nvPicPr>
          <p:cNvPr id="454" name="Google Shape;454;p75"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455" name="Google Shape;455;p75"/>
          <p:cNvSpPr txBox="1"/>
          <p:nvPr/>
        </p:nvSpPr>
        <p:spPr>
          <a:xfrm>
            <a:off x="571400" y="1144050"/>
            <a:ext cx="7823700" cy="2955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LLMs ampliam capacidades humanas.</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Mas também amplificam vieses estruturais.</a:t>
            </a:r>
            <a:endParaRPr sz="1000">
              <a:latin typeface="REM"/>
              <a:ea typeface="REM"/>
              <a:cs typeface="REM"/>
              <a:sym typeface="REM"/>
            </a:endParaRPr>
          </a:p>
          <a:p>
            <a:pPr indent="0" lvl="0" marL="0" rtl="0" algn="l">
              <a:lnSpc>
                <a:spcPct val="150000"/>
              </a:lnSpc>
              <a:spcBef>
                <a:spcPts val="1200"/>
              </a:spcBef>
              <a:spcAft>
                <a:spcPts val="0"/>
              </a:spcAft>
              <a:buNone/>
            </a:pPr>
            <a:r>
              <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A literatura mostra:</a:t>
            </a:r>
            <a:endParaRPr sz="1000">
              <a:latin typeface="REM"/>
              <a:ea typeface="REM"/>
              <a:cs typeface="REM"/>
              <a:sym typeface="REM"/>
            </a:endParaRPr>
          </a:p>
          <a:p>
            <a:pPr indent="-292100" lvl="0" marL="457200" rtl="0" algn="l">
              <a:lnSpc>
                <a:spcPct val="150000"/>
              </a:lnSpc>
              <a:spcBef>
                <a:spcPts val="1200"/>
              </a:spcBef>
              <a:spcAft>
                <a:spcPts val="0"/>
              </a:spcAft>
              <a:buSzPts val="1000"/>
              <a:buFont typeface="REM"/>
              <a:buChar char="●"/>
            </a:pPr>
            <a:r>
              <a:rPr lang="pt-BR" sz="1000">
                <a:latin typeface="REM"/>
                <a:ea typeface="REM"/>
                <a:cs typeface="REM"/>
                <a:sym typeface="REM"/>
              </a:rPr>
              <a:t>Viés é inerente a dados históricos</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Escala aumenta impacto</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Avaliação contínua é indispensável</a:t>
            </a:r>
            <a:endParaRPr sz="1000">
              <a:latin typeface="REM"/>
              <a:ea typeface="REM"/>
              <a:cs typeface="REM"/>
              <a:sym typeface="REM"/>
            </a:endParaRPr>
          </a:p>
          <a:p>
            <a:pPr indent="-292100" lvl="0" marL="457200" rtl="0" algn="l">
              <a:lnSpc>
                <a:spcPct val="150000"/>
              </a:lnSpc>
              <a:spcBef>
                <a:spcPts val="0"/>
              </a:spcBef>
              <a:spcAft>
                <a:spcPts val="0"/>
              </a:spcAft>
              <a:buSzPts val="1000"/>
              <a:buFont typeface="REM"/>
              <a:buChar char="●"/>
            </a:pPr>
            <a:r>
              <a:rPr lang="pt-BR" sz="1000">
                <a:latin typeface="REM"/>
                <a:ea typeface="REM"/>
                <a:cs typeface="REM"/>
                <a:sym typeface="REM"/>
              </a:rPr>
              <a:t>Design determina responsabilidade</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76"/>
          <p:cNvSpPr txBox="1"/>
          <p:nvPr/>
        </p:nvSpPr>
        <p:spPr>
          <a:xfrm>
            <a:off x="571400" y="4132275"/>
            <a:ext cx="73506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chemeClr val="lt1"/>
                </a:solidFill>
                <a:latin typeface="REM"/>
                <a:ea typeface="REM"/>
                <a:cs typeface="REM"/>
                <a:sym typeface="REM"/>
              </a:rPr>
              <a:t>Conclusão</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rtl="0" algn="l">
              <a:spcBef>
                <a:spcPts val="0"/>
              </a:spcBef>
              <a:spcAft>
                <a:spcPts val="0"/>
              </a:spcAft>
              <a:buNone/>
            </a:pPr>
            <a:r>
              <a:t/>
            </a:r>
            <a:endParaRPr b="1" sz="2300">
              <a:solidFill>
                <a:schemeClr val="lt1"/>
              </a:solidFill>
              <a:latin typeface="REM"/>
              <a:ea typeface="REM"/>
              <a:cs typeface="REM"/>
              <a:sym typeface="REM"/>
            </a:endParaRPr>
          </a:p>
          <a:p>
            <a:pPr indent="0" lvl="0" marL="0" marR="0" rtl="0" algn="l">
              <a:lnSpc>
                <a:spcPct val="100000"/>
              </a:lnSpc>
              <a:spcBef>
                <a:spcPts val="0"/>
              </a:spcBef>
              <a:spcAft>
                <a:spcPts val="0"/>
              </a:spcAft>
              <a:buNone/>
            </a:pPr>
            <a:r>
              <a:t/>
            </a:r>
            <a:endParaRPr sz="2300">
              <a:solidFill>
                <a:schemeClr val="lt1"/>
              </a:solidFill>
              <a:latin typeface="REM"/>
              <a:ea typeface="REM"/>
              <a:cs typeface="REM"/>
              <a:sym typeface="REM"/>
            </a:endParaRPr>
          </a:p>
        </p:txBody>
      </p:sp>
      <p:pic>
        <p:nvPicPr>
          <p:cNvPr id="461" name="Google Shape;461;p76" title="Logo-Cortex.png"/>
          <p:cNvPicPr preferRelativeResize="0"/>
          <p:nvPr/>
        </p:nvPicPr>
        <p:blipFill>
          <a:blip r:embed="rId3">
            <a:alphaModFix/>
          </a:blip>
          <a:stretch>
            <a:fillRect/>
          </a:stretch>
        </p:blipFill>
        <p:spPr>
          <a:xfrm>
            <a:off x="8293125" y="4230150"/>
            <a:ext cx="261725" cy="2558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77"/>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Conclusão</a:t>
            </a:r>
            <a:endParaRPr b="1" sz="2500">
              <a:solidFill>
                <a:srgbClr val="27213D"/>
              </a:solidFill>
              <a:latin typeface="REM"/>
              <a:ea typeface="REM"/>
              <a:cs typeface="REM"/>
              <a:sym typeface="REM"/>
            </a:endParaRPr>
          </a:p>
        </p:txBody>
      </p:sp>
      <p:pic>
        <p:nvPicPr>
          <p:cNvPr id="467" name="Google Shape;467;p77"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468" name="Google Shape;468;p77"/>
          <p:cNvSpPr txBox="1"/>
          <p:nvPr/>
        </p:nvSpPr>
        <p:spPr>
          <a:xfrm>
            <a:off x="571400" y="1144050"/>
            <a:ext cx="7823700" cy="2878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Durante esse curso, nós não aprendemos apenas como usar LLMs. Nós entendemos que eles não pensam, não sabem, não verificam fatos e não possuem intenção. São </a:t>
            </a:r>
            <a:r>
              <a:rPr b="1" lang="pt-BR" sz="1000">
                <a:latin typeface="REM"/>
                <a:ea typeface="REM"/>
                <a:cs typeface="REM"/>
                <a:sym typeface="REM"/>
              </a:rPr>
              <a:t>máquinas probabilísticas</a:t>
            </a:r>
            <a:r>
              <a:rPr lang="pt-BR" sz="1000">
                <a:latin typeface="REM"/>
                <a:ea typeface="REM"/>
                <a:cs typeface="REM"/>
                <a:sym typeface="REM"/>
              </a:rPr>
              <a:t> que operam sobre </a:t>
            </a:r>
            <a:r>
              <a:rPr b="1" lang="pt-BR" sz="1000">
                <a:latin typeface="REM"/>
                <a:ea typeface="REM"/>
                <a:cs typeface="REM"/>
                <a:sym typeface="REM"/>
              </a:rPr>
              <a:t>padrões estatísticos </a:t>
            </a:r>
            <a:r>
              <a:rPr lang="pt-BR" sz="1000">
                <a:latin typeface="REM"/>
                <a:ea typeface="REM"/>
                <a:cs typeface="REM"/>
                <a:sym typeface="REM"/>
              </a:rPr>
              <a:t>de linguagem. E, ainda assim, produzem algo que </a:t>
            </a:r>
            <a:r>
              <a:rPr b="1" lang="pt-BR" sz="1000">
                <a:latin typeface="REM"/>
                <a:ea typeface="REM"/>
                <a:cs typeface="REM"/>
                <a:sym typeface="REM"/>
              </a:rPr>
              <a:t>se parece</a:t>
            </a:r>
            <a:r>
              <a:rPr lang="pt-BR" sz="1000">
                <a:latin typeface="REM"/>
                <a:ea typeface="REM"/>
                <a:cs typeface="REM"/>
                <a:sym typeface="REM"/>
              </a:rPr>
              <a:t> muito com </a:t>
            </a:r>
            <a:r>
              <a:rPr b="1" lang="pt-BR" sz="1000">
                <a:latin typeface="REM"/>
                <a:ea typeface="REM"/>
                <a:cs typeface="REM"/>
                <a:sym typeface="REM"/>
              </a:rPr>
              <a:t>inteligência</a:t>
            </a:r>
            <a:r>
              <a:rPr lang="pt-BR" sz="1000">
                <a:latin typeface="REM"/>
                <a:ea typeface="REM"/>
                <a:cs typeface="REM"/>
                <a:sym typeface="REM"/>
              </a:rPr>
              <a:t>.</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LLMs </a:t>
            </a:r>
            <a:r>
              <a:rPr b="1" lang="pt-BR" sz="1000">
                <a:latin typeface="REM"/>
                <a:ea typeface="REM"/>
                <a:cs typeface="REM"/>
                <a:sym typeface="REM"/>
              </a:rPr>
              <a:t>não são mágicos</a:t>
            </a:r>
            <a:r>
              <a:rPr lang="pt-BR" sz="1000">
                <a:latin typeface="REM"/>
                <a:ea typeface="REM"/>
                <a:cs typeface="REM"/>
                <a:sym typeface="REM"/>
              </a:rPr>
              <a:t> mas </a:t>
            </a:r>
            <a:r>
              <a:rPr b="1" lang="pt-BR" sz="1000">
                <a:latin typeface="REM"/>
                <a:ea typeface="REM"/>
                <a:cs typeface="REM"/>
                <a:sym typeface="REM"/>
              </a:rPr>
              <a:t>são poderosos</a:t>
            </a:r>
            <a:r>
              <a:rPr lang="pt-BR" sz="1000">
                <a:latin typeface="REM"/>
                <a:ea typeface="REM"/>
                <a:cs typeface="REM"/>
                <a:sym typeface="REM"/>
              </a:rPr>
              <a:t>. Eles ampliam nossa capacidade de síntese, de produção, de organização de informação e de tomada de decisão. Eles reduzem fricções cognitivas. Eles aceleram fluxos. Eles escalam linguagem.</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Mas tudo que amplifica capacidade, amplifica também </a:t>
            </a:r>
            <a:r>
              <a:rPr b="1" lang="pt-BR" sz="1000">
                <a:latin typeface="REM"/>
                <a:ea typeface="REM"/>
                <a:cs typeface="REM"/>
                <a:sym typeface="REM"/>
              </a:rPr>
              <a:t>risco</a:t>
            </a:r>
            <a:r>
              <a:rPr lang="pt-BR" sz="1000">
                <a:latin typeface="REM"/>
                <a:ea typeface="REM"/>
                <a:cs typeface="REM"/>
                <a:sym typeface="REM"/>
              </a:rPr>
              <a:t>. E a arquitetura faz toda a diferença. Ao longo do curso, vimos que o </a:t>
            </a:r>
            <a:r>
              <a:rPr b="1" lang="pt-BR" sz="1000">
                <a:latin typeface="REM"/>
                <a:ea typeface="REM"/>
                <a:cs typeface="REM"/>
                <a:sym typeface="REM"/>
              </a:rPr>
              <a:t>LLM não é o sistema</a:t>
            </a:r>
            <a:r>
              <a:rPr lang="pt-BR" sz="1000">
                <a:latin typeface="REM"/>
                <a:ea typeface="REM"/>
                <a:cs typeface="REM"/>
                <a:sym typeface="REM"/>
              </a:rPr>
              <a:t>. Ele é apenas um </a:t>
            </a:r>
            <a:r>
              <a:rPr b="1" lang="pt-BR" sz="1000">
                <a:latin typeface="REM"/>
                <a:ea typeface="REM"/>
                <a:cs typeface="REM"/>
                <a:sym typeface="REM"/>
              </a:rPr>
              <a:t>componente</a:t>
            </a:r>
            <a:r>
              <a:rPr lang="pt-BR" sz="1000">
                <a:latin typeface="REM"/>
                <a:ea typeface="REM"/>
                <a:cs typeface="REM"/>
                <a:sym typeface="REM"/>
              </a:rPr>
              <a:t> dentro de um </a:t>
            </a:r>
            <a:r>
              <a:rPr b="1" lang="pt-BR" sz="1000">
                <a:latin typeface="REM"/>
                <a:ea typeface="REM"/>
                <a:cs typeface="REM"/>
                <a:sym typeface="REM"/>
              </a:rPr>
              <a:t>pipeline </a:t>
            </a:r>
            <a:r>
              <a:rPr lang="pt-BR" sz="1000">
                <a:latin typeface="REM"/>
                <a:ea typeface="REM"/>
                <a:cs typeface="REM"/>
                <a:sym typeface="REM"/>
              </a:rPr>
              <a:t>que precisa de dados bem tratados, validação, observabilidade, controle de custo, fallback, métricas e supervisão humana quando necessário.</a:t>
            </a:r>
            <a:endParaRPr sz="1000">
              <a:latin typeface="REM"/>
              <a:ea typeface="REM"/>
              <a:cs typeface="REM"/>
              <a:sym typeface="REM"/>
            </a:endParaRPr>
          </a:p>
          <a:p>
            <a:pPr indent="0" lvl="0" marL="0" rtl="0" algn="l">
              <a:lnSpc>
                <a:spcPct val="150000"/>
              </a:lnSpc>
              <a:spcBef>
                <a:spcPts val="1200"/>
              </a:spcBef>
              <a:spcAft>
                <a:spcPts val="1200"/>
              </a:spcAft>
              <a:buNone/>
            </a:pPr>
            <a:r>
              <a:rPr lang="pt-BR" sz="1000">
                <a:latin typeface="REM"/>
                <a:ea typeface="REM"/>
                <a:cs typeface="REM"/>
                <a:sym typeface="REM"/>
              </a:rPr>
              <a:t>A pergunta que fica não é “como usar IA?”. A pergunta é: estamos prontos para assumir a responsabilidade de projetar sistemas probabilísticos que influenciam decisões em escala?</a:t>
            </a:r>
            <a:endParaRPr sz="1000">
              <a:latin typeface="REM"/>
              <a:ea typeface="REM"/>
              <a:cs typeface="REM"/>
              <a:sym typeface="RE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nvSpPr>
        <p:spPr>
          <a:xfrm>
            <a:off x="571400" y="558475"/>
            <a:ext cx="7405800" cy="3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300">
                <a:solidFill>
                  <a:srgbClr val="27213D"/>
                </a:solidFill>
                <a:latin typeface="REM"/>
                <a:ea typeface="REM"/>
                <a:cs typeface="REM"/>
                <a:sym typeface="REM"/>
              </a:rPr>
              <a:t>Bibliografia</a:t>
            </a:r>
            <a:endParaRPr b="1" sz="2500">
              <a:solidFill>
                <a:srgbClr val="27213D"/>
              </a:solidFill>
              <a:latin typeface="REM"/>
              <a:ea typeface="REM"/>
              <a:cs typeface="REM"/>
              <a:sym typeface="REM"/>
            </a:endParaRPr>
          </a:p>
        </p:txBody>
      </p:sp>
      <p:pic>
        <p:nvPicPr>
          <p:cNvPr id="474" name="Google Shape;474;p78" title="Logo-Cortex-25.png"/>
          <p:cNvPicPr preferRelativeResize="0"/>
          <p:nvPr/>
        </p:nvPicPr>
        <p:blipFill>
          <a:blip r:embed="rId3">
            <a:alphaModFix/>
          </a:blip>
          <a:stretch>
            <a:fillRect/>
          </a:stretch>
        </p:blipFill>
        <p:spPr>
          <a:xfrm>
            <a:off x="7789800" y="4590000"/>
            <a:ext cx="938001" cy="187600"/>
          </a:xfrm>
          <a:prstGeom prst="rect">
            <a:avLst/>
          </a:prstGeom>
          <a:noFill/>
          <a:ln>
            <a:noFill/>
          </a:ln>
        </p:spPr>
      </p:pic>
      <p:sp>
        <p:nvSpPr>
          <p:cNvPr id="475" name="Google Shape;475;p78"/>
          <p:cNvSpPr txBox="1"/>
          <p:nvPr/>
        </p:nvSpPr>
        <p:spPr>
          <a:xfrm>
            <a:off x="571400" y="1144050"/>
            <a:ext cx="7823700" cy="2647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pt-BR" sz="1000">
                <a:latin typeface="REM"/>
                <a:ea typeface="REM"/>
                <a:cs typeface="REM"/>
                <a:sym typeface="REM"/>
              </a:rPr>
              <a:t>Russell, S., &amp; Norvig, P. (2009). Artificial Intelligence: A Modern Approach (3rd ed.). Pearson.</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Mitchell, T. M. (1997). Machine Learning. McGraw-Hill.</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Flach, P. (2012). Machine Learning: The Art and Science of Algorithms that Make Sense of Data. Cambridge University Press.</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Haykin, S. (2008). Neural Networks and Learning Machines (3rd ed.). Prentice Hall.</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Anthony, M., &amp; Bartlett, P. L. (2009). Neural Network Learning: Theoretical Foundations. Cambridge University Press.</a:t>
            </a:r>
            <a:endParaRPr sz="1000">
              <a:latin typeface="REM"/>
              <a:ea typeface="REM"/>
              <a:cs typeface="REM"/>
              <a:sym typeface="REM"/>
            </a:endParaRPr>
          </a:p>
          <a:p>
            <a:pPr indent="0" lvl="0" marL="0" rtl="0" algn="l">
              <a:lnSpc>
                <a:spcPct val="150000"/>
              </a:lnSpc>
              <a:spcBef>
                <a:spcPts val="1200"/>
              </a:spcBef>
              <a:spcAft>
                <a:spcPts val="0"/>
              </a:spcAft>
              <a:buNone/>
            </a:pPr>
            <a:r>
              <a:rPr lang="pt-BR" sz="1000">
                <a:latin typeface="REM"/>
                <a:ea typeface="REM"/>
                <a:cs typeface="REM"/>
                <a:sym typeface="REM"/>
              </a:rPr>
              <a:t>Bishop, C. M. (2006). Pattern Recognition and Machine Learning. Springer.</a:t>
            </a:r>
            <a:endParaRPr sz="1000">
              <a:latin typeface="REM"/>
              <a:ea typeface="REM"/>
              <a:cs typeface="REM"/>
              <a:sym typeface="REM"/>
            </a:endParaRPr>
          </a:p>
          <a:p>
            <a:pPr indent="0" lvl="0" marL="0" rtl="0" algn="l">
              <a:lnSpc>
                <a:spcPct val="150000"/>
              </a:lnSpc>
              <a:spcBef>
                <a:spcPts val="1200"/>
              </a:spcBef>
              <a:spcAft>
                <a:spcPts val="1200"/>
              </a:spcAft>
              <a:buNone/>
            </a:pPr>
            <a:r>
              <a:t/>
            </a:r>
            <a:endParaRPr sz="1000">
              <a:latin typeface="REM"/>
              <a:ea typeface="REM"/>
              <a:cs typeface="REM"/>
              <a:sym typeface="REM"/>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241330"/>
      </a:dk1>
      <a:lt1>
        <a:srgbClr val="F1EEF2"/>
      </a:lt1>
      <a:dk2>
        <a:srgbClr val="DDD5DF"/>
      </a:dk2>
      <a:lt2>
        <a:srgbClr val="741E91"/>
      </a:lt2>
      <a:accent1>
        <a:srgbClr val="801245"/>
      </a:accent1>
      <a:accent2>
        <a:srgbClr val="FEA931"/>
      </a:accent2>
      <a:accent3>
        <a:srgbClr val="71BDA3"/>
      </a:accent3>
      <a:accent4>
        <a:srgbClr val="FFFFFF"/>
      </a:accent4>
      <a:accent5>
        <a:srgbClr val="721043"/>
      </a:accent5>
      <a:accent6>
        <a:srgbClr val="EEFF41"/>
      </a:accent6>
      <a:hlink>
        <a:srgbClr val="2185E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