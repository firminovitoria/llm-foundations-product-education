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y="5143500" cx="9144000"/>
  <p:notesSz cx="6858000" cy="9144000"/>
  <p:embeddedFontLst>
    <p:embeddedFont>
      <p:font typeface="REM Medium"/>
      <p:regular r:id="rId85"/>
      <p:bold r:id="rId86"/>
      <p:italic r:id="rId87"/>
      <p:boldItalic r:id="rId88"/>
    </p:embeddedFont>
    <p:embeddedFont>
      <p:font typeface="REM SemiBold"/>
      <p:regular r:id="rId89"/>
      <p:bold r:id="rId90"/>
      <p:italic r:id="rId91"/>
      <p:boldItalic r:id="rId92"/>
    </p:embeddedFont>
    <p:embeddedFont>
      <p:font typeface="REM Light"/>
      <p:regular r:id="rId93"/>
      <p:bold r:id="rId94"/>
      <p:italic r:id="rId95"/>
      <p:boldItalic r:id="rId96"/>
    </p:embeddedFont>
    <p:embeddedFont>
      <p:font typeface="REM ExtraLight"/>
      <p:regular r:id="rId97"/>
      <p:bold r:id="rId98"/>
      <p:italic r:id="rId99"/>
      <p:boldItalic r:id="rId100"/>
    </p:embeddedFont>
    <p:embeddedFont>
      <p:font typeface="REM"/>
      <p:regular r:id="rId101"/>
      <p:bold r:id="rId102"/>
      <p:italic r:id="rId103"/>
      <p:boldItalic r:id="rId104"/>
    </p:embeddedFont>
    <p:embeddedFont>
      <p:font typeface="Roboto Mono"/>
      <p:regular r:id="rId105"/>
      <p:bold r:id="rId106"/>
      <p:italic r:id="rId107"/>
      <p:boldItalic r:id="rId108"/>
    </p:embeddedFont>
    <p:embeddedFont>
      <p:font typeface="REM ExtraBold"/>
      <p:bold r:id="rId109"/>
      <p:boldItalic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73FB73-AADB-4C53-8E56-2D73E4D8CF0A}">
  <a:tblStyle styleId="{0E73FB73-AADB-4C53-8E56-2D73E4D8CF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RobotoMono-italic.fntdata"/><Relationship Id="rId106" Type="http://schemas.openxmlformats.org/officeDocument/2006/relationships/font" Target="fonts/RobotoMono-bold.fntdata"/><Relationship Id="rId105" Type="http://schemas.openxmlformats.org/officeDocument/2006/relationships/font" Target="fonts/RobotoMono-regular.fntdata"/><Relationship Id="rId104" Type="http://schemas.openxmlformats.org/officeDocument/2006/relationships/font" Target="fonts/REM-boldItalic.fntdata"/><Relationship Id="rId109" Type="http://schemas.openxmlformats.org/officeDocument/2006/relationships/font" Target="fonts/REMExtraBold-bold.fntdata"/><Relationship Id="rId108" Type="http://schemas.openxmlformats.org/officeDocument/2006/relationships/font" Target="fonts/RobotoMono-boldItalic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REM-italic.fntdata"/><Relationship Id="rId102" Type="http://schemas.openxmlformats.org/officeDocument/2006/relationships/font" Target="fonts/REM-bold.fntdata"/><Relationship Id="rId101" Type="http://schemas.openxmlformats.org/officeDocument/2006/relationships/font" Target="fonts/REM-regular.fntdata"/><Relationship Id="rId100" Type="http://schemas.openxmlformats.org/officeDocument/2006/relationships/font" Target="fonts/REMExtraLight-bold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REMLight-italic.fntdata"/><Relationship Id="rId94" Type="http://schemas.openxmlformats.org/officeDocument/2006/relationships/font" Target="fonts/REMLight-bold.fntdata"/><Relationship Id="rId97" Type="http://schemas.openxmlformats.org/officeDocument/2006/relationships/font" Target="fonts/REMExtraLight-regular.fntdata"/><Relationship Id="rId96" Type="http://schemas.openxmlformats.org/officeDocument/2006/relationships/font" Target="fonts/REMLight-boldItalic.fntdata"/><Relationship Id="rId11" Type="http://schemas.openxmlformats.org/officeDocument/2006/relationships/slide" Target="slides/slide4.xml"/><Relationship Id="rId99" Type="http://schemas.openxmlformats.org/officeDocument/2006/relationships/font" Target="fonts/REMExtraLight-italic.fntdata"/><Relationship Id="rId10" Type="http://schemas.openxmlformats.org/officeDocument/2006/relationships/slide" Target="slides/slide3.xml"/><Relationship Id="rId98" Type="http://schemas.openxmlformats.org/officeDocument/2006/relationships/font" Target="fonts/REMExtraLight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REMSemiBold-italic.fntdata"/><Relationship Id="rId90" Type="http://schemas.openxmlformats.org/officeDocument/2006/relationships/font" Target="fonts/REMSemiBold-bold.fntdata"/><Relationship Id="rId93" Type="http://schemas.openxmlformats.org/officeDocument/2006/relationships/font" Target="fonts/REMLight-regular.fntdata"/><Relationship Id="rId92" Type="http://schemas.openxmlformats.org/officeDocument/2006/relationships/font" Target="fonts/REMSemiBold-boldItalic.fntdata"/><Relationship Id="rId15" Type="http://schemas.openxmlformats.org/officeDocument/2006/relationships/slide" Target="slides/slide8.xml"/><Relationship Id="rId110" Type="http://schemas.openxmlformats.org/officeDocument/2006/relationships/font" Target="fonts/REMExtraBold-boldItalic.fntdata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font" Target="fonts/REMMedium-bold.fntdata"/><Relationship Id="rId85" Type="http://schemas.openxmlformats.org/officeDocument/2006/relationships/font" Target="fonts/REMMedium-regular.fntdata"/><Relationship Id="rId88" Type="http://schemas.openxmlformats.org/officeDocument/2006/relationships/font" Target="fonts/REMMedium-boldItalic.fntdata"/><Relationship Id="rId87" Type="http://schemas.openxmlformats.org/officeDocument/2006/relationships/font" Target="fonts/REMMedium-italic.fntdata"/><Relationship Id="rId89" Type="http://schemas.openxmlformats.org/officeDocument/2006/relationships/font" Target="fonts/REMSemiBold-regular.fntdata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d3759cb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d3759cb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38359c08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38359c08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e75dd59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e75dd59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de75dd59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de75dd59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54ec1ae0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54ec1ae0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8359c08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38359c08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38359c08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38359c08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38359c08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38359c08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54ec1ae0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54ec1ae0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54ec1ae0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54ec1ae0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54ec1ae0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54ec1ae0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54ec1ae0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54ec1ae0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54ec1ae0d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54ec1ae0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612c876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612c876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24cd185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24cd185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24cd185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24cd185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24cd1855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24cd1855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24cd1855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24cd1855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24cd1855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24cd1855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612c876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612c876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612c876c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612c876c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6582a388a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6582a388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6582a388a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6582a388a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6582a388a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6582a388a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6582a388a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6582a388a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6582a388a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6582a388a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6582a388a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6582a388a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6582a388a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6582a388a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6582a388a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b6582a388a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6582a388a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6582a388a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54ec1ae0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54ec1ae0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612c876c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612c876c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6582a3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b6582a3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6582a388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6582a388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6582a388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6582a388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6582a388a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b6582a388a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6582a388a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b6582a388a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6582a388a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b6582a388a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6582a388a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6582a388a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6582a388a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b6582a388a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6582a388a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b6582a388a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929b36ba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929b36ba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929b36bad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929b36bad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29b36bad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929b36bad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29b36bad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929b36bad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29b36bad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929b36bad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29b36bad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29b36bad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29b36bad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929b36bad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29b36bad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29b36bad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929b36bad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929b36bad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929b36bad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929b36bad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929b36bad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929b36bad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929b36bad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929b36bad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929b36bad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929b36bad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929b36bad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929b36bad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929b36bad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929b36bad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929b36bad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929b36bad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929b36bad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929b36bad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929b36bad8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929b36bad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bb7c61380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bb7c61380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bb7c61380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bb7c61380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b7c61380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bb7c61380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938359c08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938359c08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938359c08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938359c08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938359c08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938359c08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b7c61380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bb7c61380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b7c61380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bb7c61380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b6582a388a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b6582a388a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9375ff37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9375ff3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9375ff37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9375ff37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9375ff370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9375ff370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9375ff370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9375ff370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9375ff370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9375ff370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9375ff370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9375ff370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9375ff370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9375ff370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9375ff370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9375ff370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9375ff370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9375ff370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as - Conteúdo">
  <p:cSld name="TITLE_AND_BODY_6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1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2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as - Conteúdo">
  <p:cSld name="TITLE_AND_BODY_6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5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Relationship Id="rId4" Type="http://schemas.openxmlformats.org/officeDocument/2006/relationships/hyperlink" Target="https://cortex-confluence.atlassian.net/wiki/spaces/AI/blog/2026/01/23/2337505281/Gera+o+de+Documentos+Estruturados+com+LLMs+Pipeline+Can+nico" TargetMode="Externa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/>
        </p:nvSpPr>
        <p:spPr>
          <a:xfrm>
            <a:off x="1124025" y="3910700"/>
            <a:ext cx="40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REM SemiBold"/>
                <a:ea typeface="REM SemiBold"/>
                <a:cs typeface="REM SemiBold"/>
                <a:sym typeface="REM SemiBold"/>
              </a:rPr>
              <a:t>Vitória Firmino</a:t>
            </a:r>
            <a:endParaRPr sz="1200">
              <a:solidFill>
                <a:srgbClr val="FFFFFF"/>
              </a:solidFill>
              <a:latin typeface="REM SemiBold"/>
              <a:ea typeface="REM SemiBold"/>
              <a:cs typeface="REM SemiBold"/>
              <a:sym typeface="REM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FFFFF"/>
                </a:solidFill>
                <a:latin typeface="REM Light"/>
                <a:ea typeface="REM Light"/>
                <a:cs typeface="REM Light"/>
                <a:sym typeface="REM Light"/>
              </a:rPr>
              <a:t>Product Owner</a:t>
            </a:r>
            <a:endParaRPr sz="900">
              <a:solidFill>
                <a:srgbClr val="FFFFFF"/>
              </a:solidFill>
              <a:latin typeface="REM Light"/>
              <a:ea typeface="REM Light"/>
              <a:cs typeface="REM Light"/>
              <a:sym typeface="REM Light"/>
            </a:endParaRPr>
          </a:p>
        </p:txBody>
      </p:sp>
      <p:sp>
        <p:nvSpPr>
          <p:cNvPr id="103" name="Google Shape;103;p31"/>
          <p:cNvSpPr txBox="1"/>
          <p:nvPr/>
        </p:nvSpPr>
        <p:spPr>
          <a:xfrm>
            <a:off x="571400" y="2407650"/>
            <a:ext cx="465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Inteligência Artificial</a:t>
            </a:r>
            <a:endParaRPr b="1" sz="20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04" name="Google Shape;104;p31"/>
          <p:cNvSpPr txBox="1"/>
          <p:nvPr/>
        </p:nvSpPr>
        <p:spPr>
          <a:xfrm>
            <a:off x="571400" y="2762200"/>
            <a:ext cx="20913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EM ExtraLight"/>
                <a:ea typeface="REM ExtraLight"/>
                <a:cs typeface="REM ExtraLight"/>
                <a:sym typeface="REM ExtraLight"/>
              </a:rPr>
              <a:t>Treinamento</a:t>
            </a:r>
            <a:endParaRPr sz="1200">
              <a:solidFill>
                <a:schemeClr val="lt1"/>
              </a:solidFill>
              <a:latin typeface="REM ExtraLight"/>
              <a:ea typeface="REM ExtraLight"/>
              <a:cs typeface="REM ExtraLight"/>
              <a:sym typeface="REM ExtraLight"/>
            </a:endParaRPr>
          </a:p>
        </p:txBody>
      </p:sp>
      <p:pic>
        <p:nvPicPr>
          <p:cNvPr id="105" name="Google Shape;105;p31" title="Logo-Cortex-25-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00" y="1113400"/>
            <a:ext cx="1440249" cy="2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1"/>
          <p:cNvSpPr txBox="1"/>
          <p:nvPr/>
        </p:nvSpPr>
        <p:spPr>
          <a:xfrm>
            <a:off x="949100" y="1453377"/>
            <a:ext cx="20913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REM Light"/>
                <a:ea typeface="REM Light"/>
                <a:cs typeface="REM Light"/>
                <a:sym typeface="REM Light"/>
              </a:rPr>
              <a:t>Made for humans,</a:t>
            </a:r>
            <a:endParaRPr sz="900">
              <a:solidFill>
                <a:schemeClr val="lt1"/>
              </a:solidFill>
              <a:latin typeface="REM Light"/>
              <a:ea typeface="REM Light"/>
              <a:cs typeface="REM Light"/>
              <a:sym typeface="REM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accent3"/>
                </a:solidFill>
                <a:latin typeface="REM Medium"/>
                <a:ea typeface="REM Medium"/>
                <a:cs typeface="REM Medium"/>
                <a:sym typeface="REM Medium"/>
              </a:rPr>
              <a:t>powered by AI</a:t>
            </a:r>
            <a:endParaRPr sz="900">
              <a:solidFill>
                <a:schemeClr val="accent3"/>
              </a:solidFill>
              <a:latin typeface="REM Medium"/>
              <a:ea typeface="REM Medium"/>
              <a:cs typeface="REM Medium"/>
              <a:sym typeface="REM Medium"/>
            </a:endParaRPr>
          </a:p>
        </p:txBody>
      </p:sp>
      <p:pic>
        <p:nvPicPr>
          <p:cNvPr id="107" name="Google Shape;107;p31" title="IMG_912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125" y="3960200"/>
            <a:ext cx="408899" cy="4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13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/>
          <p:nvPr/>
        </p:nvSpPr>
        <p:spPr>
          <a:xfrm>
            <a:off x="829100" y="2343350"/>
            <a:ext cx="7350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Parte 1: entender como LLMs funcionam e quais são seus limites reais.</a:t>
            </a:r>
            <a:endParaRPr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Parte 2: decidir como usar LLMs em sistemas reais, com qualidade, custo, segurança e responsabilidade.</a:t>
            </a:r>
            <a:endParaRPr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13" name="Google Shape;113;p32" title="Logo-Cort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125" y="4230150"/>
            <a:ext cx="261725" cy="255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32"/>
          <p:cNvCxnSpPr/>
          <p:nvPr/>
        </p:nvCxnSpPr>
        <p:spPr>
          <a:xfrm flipH="1">
            <a:off x="709875" y="2259850"/>
            <a:ext cx="1200" cy="1003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571400" y="4132275"/>
            <a:ext cx="7350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Fundamentos</a:t>
            </a:r>
            <a:endParaRPr sz="2300">
              <a:solidFill>
                <a:schemeClr val="lt1"/>
              </a:solidFill>
              <a:latin typeface="REM ExtraBold"/>
              <a:ea typeface="REM ExtraBold"/>
              <a:cs typeface="REM ExtraBold"/>
              <a:sym typeface="REM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20" name="Google Shape;120;p33" title="Logo-Cort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125" y="4230150"/>
            <a:ext cx="261725" cy="2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/>
          <p:nvPr/>
        </p:nvSpPr>
        <p:spPr>
          <a:xfrm>
            <a:off x="5209425" y="558475"/>
            <a:ext cx="3569400" cy="34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6" name="Google Shape;126;p34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Conceitos Importantes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27" name="Google Shape;127;p34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28" name="Google Shape;128;p34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4"/>
          <p:cNvSpPr/>
          <p:nvPr/>
        </p:nvSpPr>
        <p:spPr>
          <a:xfrm>
            <a:off x="5406225" y="1019250"/>
            <a:ext cx="3082800" cy="30231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" name="Google Shape;130;p34"/>
          <p:cNvSpPr/>
          <p:nvPr/>
        </p:nvSpPr>
        <p:spPr>
          <a:xfrm>
            <a:off x="5674275" y="1496250"/>
            <a:ext cx="2546700" cy="2546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1" name="Google Shape;131;p34"/>
          <p:cNvSpPr txBox="1"/>
          <p:nvPr/>
        </p:nvSpPr>
        <p:spPr>
          <a:xfrm>
            <a:off x="6169175" y="1281375"/>
            <a:ext cx="1734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Machine Learning (ML)</a:t>
            </a:r>
            <a:endParaRPr b="1" sz="12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32" name="Google Shape;132;p34"/>
          <p:cNvSpPr txBox="1"/>
          <p:nvPr/>
        </p:nvSpPr>
        <p:spPr>
          <a:xfrm>
            <a:off x="6271250" y="1843470"/>
            <a:ext cx="1734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Deep Learning (DL)</a:t>
            </a:r>
            <a:endParaRPr b="1" sz="12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33" name="Google Shape;133;p34"/>
          <p:cNvSpPr txBox="1"/>
          <p:nvPr/>
        </p:nvSpPr>
        <p:spPr>
          <a:xfrm>
            <a:off x="6228125" y="804313"/>
            <a:ext cx="1734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Inteligência Artificial (IA)</a:t>
            </a:r>
            <a:endParaRPr b="1" sz="12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34" name="Google Shape;134;p34"/>
          <p:cNvSpPr/>
          <p:nvPr/>
        </p:nvSpPr>
        <p:spPr>
          <a:xfrm>
            <a:off x="6027375" y="2197650"/>
            <a:ext cx="1933500" cy="18447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5" name="Google Shape;135;p34"/>
          <p:cNvSpPr txBox="1"/>
          <p:nvPr/>
        </p:nvSpPr>
        <p:spPr>
          <a:xfrm>
            <a:off x="6534875" y="3008375"/>
            <a:ext cx="1734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IA Generativa</a:t>
            </a:r>
            <a:endParaRPr b="1" sz="12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cxnSp>
        <p:nvCxnSpPr>
          <p:cNvPr id="136" name="Google Shape;136;p34"/>
          <p:cNvCxnSpPr/>
          <p:nvPr/>
        </p:nvCxnSpPr>
        <p:spPr>
          <a:xfrm flipH="1">
            <a:off x="5698800" y="3358100"/>
            <a:ext cx="612300" cy="58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34"/>
          <p:cNvSpPr/>
          <p:nvPr/>
        </p:nvSpPr>
        <p:spPr>
          <a:xfrm>
            <a:off x="5045625" y="4049275"/>
            <a:ext cx="938100" cy="425100"/>
          </a:xfrm>
          <a:prstGeom prst="roundRect">
            <a:avLst>
              <a:gd fmla="val 16667" name="adj"/>
            </a:avLst>
          </a:prstGeom>
          <a:solidFill>
            <a:srgbClr val="E8DA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LLM</a:t>
            </a:r>
            <a:endParaRPr b="1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38" name="Google Shape;138;p34"/>
          <p:cNvSpPr txBox="1"/>
          <p:nvPr/>
        </p:nvSpPr>
        <p:spPr>
          <a:xfrm>
            <a:off x="571400" y="1226100"/>
            <a:ext cx="42939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Inteligência Artificial: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Área que desenvolve sistemas capazes de executar tarefas que normalmente exigem inteligência humana.</a:t>
            </a:r>
            <a:endParaRPr sz="9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Machine Learning: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Subcampo da IA em que modelos aprendem padrões a partir de dados para realizar previsões ou decisões.</a:t>
            </a:r>
            <a:endParaRPr sz="9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Deep Learning: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Abordagem de ML baseada em redes neurais profundas que aprendem representações complexas dos dados em múltiplas camadas.</a:t>
            </a:r>
            <a:endParaRPr sz="9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IA Generativa: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Tipo de IA capaz de criar novos conteúdos a partir de padrões aprendidos de </a:t>
            </a:r>
            <a:r>
              <a:rPr b="1" lang="pt-BR" sz="900">
                <a:latin typeface="REM"/>
                <a:ea typeface="REM"/>
                <a:cs typeface="REM"/>
                <a:sym typeface="REM"/>
              </a:rPr>
              <a:t>grandes volumes de dados.</a:t>
            </a:r>
            <a:endParaRPr b="1" sz="9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LLM (Large Language Model):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Modelo de IA treinado em enormes conjuntos de dados para compreender e gerar linguagem natural.</a:t>
            </a:r>
            <a:endParaRPr sz="9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5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Machine Learning 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44" name="Google Shape;144;p35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45" name="Google Shape;145;p3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5"/>
          <p:cNvSpPr txBox="1"/>
          <p:nvPr/>
        </p:nvSpPr>
        <p:spPr>
          <a:xfrm>
            <a:off x="537375" y="1027950"/>
            <a:ext cx="40728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Supervisionado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modelo aprende a partir de dados rotulados (com respostas conhecidas).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que o modelo recebe: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Entrada X + saída esperada Y</a:t>
            </a:r>
            <a:endParaRPr b="1" sz="1200">
              <a:solidFill>
                <a:schemeClr val="lt2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47" name="Google Shape;14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00" y="2995350"/>
            <a:ext cx="4264875" cy="14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5"/>
          <p:cNvSpPr txBox="1"/>
          <p:nvPr/>
        </p:nvSpPr>
        <p:spPr>
          <a:xfrm>
            <a:off x="4754912" y="1066975"/>
            <a:ext cx="40728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Não </a:t>
            </a:r>
            <a:r>
              <a:rPr b="1" lang="pt-BR" sz="1200">
                <a:latin typeface="REM"/>
                <a:ea typeface="REM"/>
                <a:cs typeface="REM"/>
                <a:sym typeface="REM"/>
              </a:rPr>
              <a:t>Supervisionado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modelo explora padrões sem saber a resposta certa.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que o modelo recebe: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Apenas os dados de Entrada X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49" name="Google Shape;149;p35"/>
          <p:cNvSpPr txBox="1"/>
          <p:nvPr/>
        </p:nvSpPr>
        <p:spPr>
          <a:xfrm>
            <a:off x="5085650" y="3168688"/>
            <a:ext cx="3000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Classificação: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Identificar se um e-mail é </a:t>
            </a:r>
            <a:r>
              <a:rPr i="1" lang="pt-BR" sz="900">
                <a:latin typeface="REM"/>
                <a:ea typeface="REM"/>
                <a:cs typeface="REM"/>
                <a:sym typeface="REM"/>
              </a:rPr>
              <a:t>spam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ou </a:t>
            </a:r>
            <a:r>
              <a:rPr i="1" lang="pt-BR" sz="900">
                <a:latin typeface="REM"/>
                <a:ea typeface="REM"/>
                <a:cs typeface="REM"/>
                <a:sym typeface="REM"/>
              </a:rPr>
              <a:t>não spam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.</a:t>
            </a:r>
            <a:endParaRPr sz="9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Regressão: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Prever o preço de uma casa com base em área, localização e número de quartos.</a:t>
            </a:r>
            <a:endParaRPr sz="9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latin typeface="REM"/>
                <a:ea typeface="REM"/>
                <a:cs typeface="REM"/>
                <a:sym typeface="REM"/>
              </a:rPr>
              <a:t>Agrupamento:</a:t>
            </a:r>
            <a:r>
              <a:rPr lang="pt-BR" sz="900">
                <a:latin typeface="REM"/>
                <a:ea typeface="REM"/>
                <a:cs typeface="REM"/>
                <a:sym typeface="REM"/>
              </a:rPr>
              <a:t> Agrupar clientes com comportamentos de compra semelhantes sem rótulos prévios.</a:t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55" name="Google Shape;155;p36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6"/>
          <p:cNvPicPr preferRelativeResize="0"/>
          <p:nvPr/>
        </p:nvPicPr>
        <p:blipFill rotWithShape="1">
          <a:blip r:embed="rId4">
            <a:alphaModFix/>
          </a:blip>
          <a:srcRect b="5863" l="12365" r="12328" t="5446"/>
          <a:stretch/>
        </p:blipFill>
        <p:spPr>
          <a:xfrm>
            <a:off x="1277388" y="631750"/>
            <a:ext cx="6589225" cy="38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6"/>
          <p:cNvSpPr/>
          <p:nvPr/>
        </p:nvSpPr>
        <p:spPr>
          <a:xfrm>
            <a:off x="6675325" y="1101250"/>
            <a:ext cx="938100" cy="32880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63" name="Google Shape;163;p3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7"/>
          <p:cNvPicPr preferRelativeResize="0"/>
          <p:nvPr/>
        </p:nvPicPr>
        <p:blipFill rotWithShape="1">
          <a:blip r:embed="rId4">
            <a:alphaModFix/>
          </a:blip>
          <a:srcRect b="5863" l="15753" r="28624" t="5446"/>
          <a:stretch/>
        </p:blipFill>
        <p:spPr>
          <a:xfrm>
            <a:off x="2138550" y="631750"/>
            <a:ext cx="4866898" cy="3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70" name="Google Shape;170;p38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8"/>
          <p:cNvPicPr preferRelativeResize="0"/>
          <p:nvPr/>
        </p:nvPicPr>
        <p:blipFill rotWithShape="1">
          <a:blip r:embed="rId4">
            <a:alphaModFix/>
          </a:blip>
          <a:srcRect b="11576" l="13784" r="12546" t="11760"/>
          <a:stretch/>
        </p:blipFill>
        <p:spPr>
          <a:xfrm>
            <a:off x="2499975" y="983825"/>
            <a:ext cx="4214499" cy="318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Deep Learning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77" name="Google Shape;177;p39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9"/>
          <p:cNvSpPr txBox="1"/>
          <p:nvPr/>
        </p:nvSpPr>
        <p:spPr>
          <a:xfrm>
            <a:off x="537375" y="1027950"/>
            <a:ext cx="78063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deep learning resolve o problema do machine learning tradicional de depender de muita intervenção humana para extrair boas características dos dados.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79" name="Google Shape;17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9700" y="1806375"/>
            <a:ext cx="4304600" cy="206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9"/>
          <p:cNvSpPr txBox="1"/>
          <p:nvPr/>
        </p:nvSpPr>
        <p:spPr>
          <a:xfrm>
            <a:off x="668850" y="4003825"/>
            <a:ext cx="78063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 própria rede aprende sozinha quais características são importantes mesmo quando os dados são muito complexos, como imagens, áudio e texto.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0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Como a IA aprende?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86" name="Google Shape;186;p40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87" name="Google Shape;187;p40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0"/>
          <p:cNvSpPr txBox="1"/>
          <p:nvPr/>
        </p:nvSpPr>
        <p:spPr>
          <a:xfrm>
            <a:off x="1722600" y="3974400"/>
            <a:ext cx="569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EM"/>
                <a:ea typeface="REM"/>
                <a:cs typeface="REM"/>
                <a:sym typeface="REM"/>
              </a:rPr>
              <a:t>A IA aprende com dados e feedback, não por "inteligência" humana. → </a:t>
            </a:r>
            <a:r>
              <a:rPr lang="pt-BR">
                <a:latin typeface="REM"/>
                <a:ea typeface="REM"/>
                <a:cs typeface="REM"/>
                <a:sym typeface="REM"/>
              </a:rPr>
              <a:t>Probabilístico</a:t>
            </a:r>
            <a:endParaRPr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89" name="Google Shape;18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473" y="1144000"/>
            <a:ext cx="2785050" cy="27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Pipeline de IA 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95" name="Google Shape;195;p41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196" name="Google Shape;196;p41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1"/>
          <p:cNvSpPr/>
          <p:nvPr/>
        </p:nvSpPr>
        <p:spPr>
          <a:xfrm>
            <a:off x="996200" y="1183900"/>
            <a:ext cx="1269300" cy="19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8" name="Google Shape;198;p41"/>
          <p:cNvSpPr txBox="1"/>
          <p:nvPr/>
        </p:nvSpPr>
        <p:spPr>
          <a:xfrm>
            <a:off x="1100325" y="1317429"/>
            <a:ext cx="1105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1.</a:t>
            </a:r>
            <a:endParaRPr b="1" sz="2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Coleta de Dados</a:t>
            </a:r>
            <a:endParaRPr b="1" sz="1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2466775" y="1183900"/>
            <a:ext cx="1269300" cy="19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0" name="Google Shape;200;p41"/>
          <p:cNvSpPr txBox="1"/>
          <p:nvPr/>
        </p:nvSpPr>
        <p:spPr>
          <a:xfrm>
            <a:off x="2602538" y="1317425"/>
            <a:ext cx="938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2</a:t>
            </a: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.</a:t>
            </a:r>
            <a:endParaRPr b="1" sz="2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Pré Processamento de Dados</a:t>
            </a:r>
            <a:endParaRPr b="1" sz="1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3937350" y="1183900"/>
            <a:ext cx="1269300" cy="19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2" name="Google Shape;202;p41"/>
          <p:cNvSpPr txBox="1"/>
          <p:nvPr/>
        </p:nvSpPr>
        <p:spPr>
          <a:xfrm>
            <a:off x="4072050" y="1317425"/>
            <a:ext cx="9999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3.</a:t>
            </a:r>
            <a:endParaRPr b="1" sz="2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Modelagem (Treinamento e Avaliação)</a:t>
            </a:r>
            <a:endParaRPr b="1" sz="1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03" name="Google Shape;203;p41"/>
          <p:cNvSpPr/>
          <p:nvPr/>
        </p:nvSpPr>
        <p:spPr>
          <a:xfrm>
            <a:off x="5407925" y="1183900"/>
            <a:ext cx="1269300" cy="19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41"/>
          <p:cNvSpPr txBox="1"/>
          <p:nvPr/>
        </p:nvSpPr>
        <p:spPr>
          <a:xfrm>
            <a:off x="5542625" y="1317425"/>
            <a:ext cx="9999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4</a:t>
            </a: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.</a:t>
            </a:r>
            <a:endParaRPr b="1" sz="2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Inferência (Deploy e Predição)</a:t>
            </a:r>
            <a:endParaRPr b="1" sz="1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05" name="Google Shape;205;p41"/>
          <p:cNvSpPr/>
          <p:nvPr/>
        </p:nvSpPr>
        <p:spPr>
          <a:xfrm>
            <a:off x="6878500" y="1183900"/>
            <a:ext cx="1269300" cy="19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6" name="Google Shape;206;p41"/>
          <p:cNvSpPr txBox="1"/>
          <p:nvPr/>
        </p:nvSpPr>
        <p:spPr>
          <a:xfrm>
            <a:off x="7013200" y="1317425"/>
            <a:ext cx="9999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5</a:t>
            </a:r>
            <a:r>
              <a:rPr b="1" lang="pt-BR" sz="2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.</a:t>
            </a:r>
            <a:endParaRPr b="1" sz="2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REM"/>
                <a:ea typeface="REM"/>
                <a:cs typeface="REM"/>
                <a:sym typeface="REM"/>
              </a:rPr>
              <a:t>Monitoramento (e retreinamento)</a:t>
            </a:r>
            <a:endParaRPr b="1" sz="1300">
              <a:solidFill>
                <a:srgbClr val="FFFFFF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996150" y="3517350"/>
            <a:ext cx="7151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É essencial garantir qualidade, relevância e confiabilidade dos dados, além de assegurar privacidade e conformidade com a LGPD. O pré-processamento é a etapa mais trabalhosa e, quando mal conduzido, pode introduzir ou amplificar vieses, afetando diretamente a performance do modelo.</a:t>
            </a:r>
            <a:endParaRPr sz="12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/>
        </p:nvSpPr>
        <p:spPr>
          <a:xfrm>
            <a:off x="571400" y="558475"/>
            <a:ext cx="76992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Métricas de Avaliação - ML Clássico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13" name="Google Shape;213;p42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14" name="Google Shape;214;p42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2"/>
          <p:cNvSpPr txBox="1"/>
          <p:nvPr/>
        </p:nvSpPr>
        <p:spPr>
          <a:xfrm>
            <a:off x="571400" y="1087960"/>
            <a:ext cx="7925400" cy="3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Acurácia:</a:t>
            </a:r>
            <a:r>
              <a:rPr b="1"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 </a:t>
            </a: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porcentagem total de previsões corretas.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</a:t>
            </a: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lassificação de imagens de roupas em um e-commerce. 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Se errar uma peça ou outra, o impacto é pequeno, e todas as categorias têm quantidades parecidas.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27213D"/>
                </a:solidFill>
                <a:latin typeface="REM Light"/>
                <a:ea typeface="REM Light"/>
                <a:cs typeface="REM Light"/>
                <a:sym typeface="REM Light"/>
              </a:rPr>
              <a:t>quando erros custam pouco e as classes são balanceadas</a:t>
            </a:r>
            <a:endParaRPr b="1"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Precisão:</a:t>
            </a: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 entre os itens que o modelo disse ser positivos, quantos realmente eram positivos.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Detectar fraude em cartão de crédito. 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Se o modelo marcar transações legítimas como fraude (falsos positivos), usuários ficam bloqueados à toa. 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27213D"/>
                </a:solidFill>
                <a:latin typeface="REM Light"/>
                <a:ea typeface="REM Light"/>
                <a:cs typeface="REM Light"/>
                <a:sym typeface="REM Light"/>
              </a:rPr>
              <a:t>quando falsos positivos são perigosos</a:t>
            </a:r>
            <a:endParaRPr b="1"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Recall: </a:t>
            </a: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entre os positivos reais, quantos o modelo conseguiu encontrar.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Diagnóstico de câncer em exames médicos. 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O pior erro é deixar um caso real de câncer passar despercebido (falso negativo).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27213D"/>
                </a:solidFill>
                <a:latin typeface="REM Light"/>
                <a:ea typeface="REM Light"/>
                <a:cs typeface="REM Light"/>
                <a:sym typeface="REM Light"/>
              </a:rPr>
              <a:t>quando falsos negativos são perigosos</a:t>
            </a:r>
            <a:endParaRPr i="1" sz="1000">
              <a:solidFill>
                <a:srgbClr val="27213D"/>
              </a:solidFill>
              <a:latin typeface="REM Light"/>
              <a:ea typeface="REM Light"/>
              <a:cs typeface="REM Light"/>
              <a:sym typeface="REM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F1-score: </a:t>
            </a: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média harmônica entre precisão e recall, equilibrando os dois em um único número.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Moderação automática de discursos de ódio. 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O modelo precisa identificar agressões (recall), mas sem censurar conteúdo legítimo (precisão).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27213D"/>
                </a:solidFill>
                <a:latin typeface="REM Light"/>
                <a:ea typeface="REM Light"/>
                <a:cs typeface="REM Light"/>
                <a:sym typeface="REM Light"/>
              </a:rPr>
              <a:t>quando é preciso equilibrar precisão e recall</a:t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Conclusões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21" name="Google Shape;221;p43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22" name="Google Shape;222;p43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3"/>
          <p:cNvSpPr txBox="1"/>
          <p:nvPr/>
        </p:nvSpPr>
        <p:spPr>
          <a:xfrm>
            <a:off x="609300" y="1255150"/>
            <a:ext cx="79254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Escolha do modelo não é aleatória: depende diretamente do tipo de dado e da tarefa;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A qualidade do experimento depende da divisão correta dos dados: treino, validação e teste evitam overfitting e dão previsibilidade em produção.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Modelos aprendem com dados, não com magia: o treinamento é apenas repetição em larga escala, refinando pesos até reconhecer padrões.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Iteração é inevitável: não existe “modelo perfeito de primeira”. PO precisa prever ciclos e tempo de experimentação.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PO deve garantir critérios claros: o time precisa saber quando um modelo está “bom o suficiente” para avançar no pipeline.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Avaliação precisa ser contínua: métricas diferentes respondem a objetivos distintos (ex: recall em saúde, precisão em fraude).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"/>
          <p:cNvSpPr txBox="1"/>
          <p:nvPr/>
        </p:nvSpPr>
        <p:spPr>
          <a:xfrm>
            <a:off x="571400" y="4132275"/>
            <a:ext cx="7350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Como LLMs Funcionam</a:t>
            </a:r>
            <a:endParaRPr sz="2300">
              <a:solidFill>
                <a:schemeClr val="lt1"/>
              </a:solidFill>
              <a:latin typeface="REM ExtraBold"/>
              <a:ea typeface="REM ExtraBold"/>
              <a:cs typeface="REM ExtraBold"/>
              <a:sym typeface="REM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29" name="Google Shape;229;p44" title="Logo-Cort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125" y="4230150"/>
            <a:ext cx="261725" cy="2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Pré-treinamento 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35" name="Google Shape;235;p45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36" name="Google Shape;236;p4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5"/>
          <p:cNvSpPr txBox="1"/>
          <p:nvPr/>
        </p:nvSpPr>
        <p:spPr>
          <a:xfrm>
            <a:off x="609300" y="1255150"/>
            <a:ext cx="79254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Aprende linguagem em larga escala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Textos da internet, livros, códigos</a:t>
            </a:r>
            <a:br>
              <a:rPr lang="pt-BR" sz="1200">
                <a:latin typeface="REM"/>
                <a:ea typeface="REM"/>
                <a:cs typeface="REM"/>
                <a:sym typeface="REM"/>
              </a:rPr>
            </a:br>
            <a:br>
              <a:rPr b="1" lang="pt-BR" sz="1200">
                <a:latin typeface="REM"/>
                <a:ea typeface="REM"/>
                <a:cs typeface="REM"/>
                <a:sym typeface="REM"/>
              </a:rPr>
            </a:b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pré-treinamento é quando o modelo aprende </a:t>
            </a:r>
            <a:r>
              <a:rPr i="1" lang="pt-BR" sz="1200">
                <a:latin typeface="REM"/>
                <a:ea typeface="REM"/>
                <a:cs typeface="REM"/>
                <a:sym typeface="REM"/>
              </a:rPr>
              <a:t>a linguagem em si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. Ele não aprende regras de negócio, nem contexto da sua empresa. 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6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Janela de contexto 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43" name="Google Shape;243;p46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44" name="Google Shape;244;p46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800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6"/>
          <p:cNvSpPr txBox="1"/>
          <p:nvPr/>
        </p:nvSpPr>
        <p:spPr>
          <a:xfrm>
            <a:off x="609300" y="1255150"/>
            <a:ext cx="79254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janela de contexto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funciona como a </a:t>
            </a:r>
            <a:r>
              <a:rPr i="1" lang="pt-BR" sz="1100">
                <a:latin typeface="REM"/>
                <a:ea typeface="REM"/>
                <a:cs typeface="REM"/>
                <a:sym typeface="REM"/>
              </a:rPr>
              <a:t>memória de trabalho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do LLM.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Ela define: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Quanto de uma conversa o modelo consegue manter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tamanho máximo de documentos ou códigos processados de uma vez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Quando o conteúdo excede essa janela: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Parte do contexto é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truncada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Ou precisa ser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resumida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para continuar a interação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61616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Tokens e Embeddings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51" name="Google Shape;251;p47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52" name="Google Shape;252;p4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800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7"/>
          <p:cNvSpPr txBox="1"/>
          <p:nvPr/>
        </p:nvSpPr>
        <p:spPr>
          <a:xfrm>
            <a:off x="609300" y="1255150"/>
            <a:ext cx="34071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Texto é quebrado em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tokens</a:t>
            </a:r>
            <a:br>
              <a:rPr b="1" lang="pt-BR" sz="1100">
                <a:latin typeface="REM"/>
                <a:ea typeface="REM"/>
                <a:cs typeface="REM"/>
                <a:sym typeface="REM"/>
              </a:rPr>
            </a:b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Tokens são transformados em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embeddings (vetores numéricos)</a:t>
            </a:r>
            <a:br>
              <a:rPr b="1" lang="pt-BR" sz="1100">
                <a:latin typeface="REM"/>
                <a:ea typeface="REM"/>
                <a:cs typeface="REM"/>
                <a:sym typeface="REM"/>
              </a:rPr>
            </a:b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opera sobre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vetores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, não sobre palavras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janela de contexto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limita o que o modelo consegue usar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61616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254" name="Google Shape;25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7775" y="1066987"/>
            <a:ext cx="4126926" cy="337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8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Atenção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60" name="Google Shape;260;p48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61" name="Google Shape;261;p48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800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8"/>
          <p:cNvSpPr txBox="1"/>
          <p:nvPr/>
        </p:nvSpPr>
        <p:spPr>
          <a:xfrm>
            <a:off x="609300" y="1255150"/>
            <a:ext cx="3772200" cy="22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Atenção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é o mecanismo que permite ao LLM: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Pesar quais partes do contexto são mais relevantes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Relacionar tokens distantes no texto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Focar no que importa para gerar a próxima resposta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Nem todo token recebe o mesmo peso. Dependendo da pergunta, o modelo “olha” mais para uma palavra específica.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61616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63" name="Google Shape;263;p48"/>
          <p:cNvSpPr txBox="1"/>
          <p:nvPr/>
        </p:nvSpPr>
        <p:spPr>
          <a:xfrm>
            <a:off x="4905300" y="1133100"/>
            <a:ext cx="3841800" cy="52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Frase: 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“O cliente reclamou do atraso na entrega,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mas elogiou o atendimento.”</a:t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64" name="Google Shape;264;p48"/>
          <p:cNvSpPr txBox="1"/>
          <p:nvPr/>
        </p:nvSpPr>
        <p:spPr>
          <a:xfrm>
            <a:off x="4905300" y="1908125"/>
            <a:ext cx="4296000" cy="22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Pergunta 1: O que o cliente achou do atendimento?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Frase: “O cliente reclamou do atraso na entrega,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mas elogiou o </a:t>
            </a:r>
            <a:r>
              <a:rPr b="1" lang="pt-BR" sz="11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atendimento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.” → O peso de atendimento vai ser maior</a:t>
            </a:r>
            <a:endParaRPr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Pergunta 2: Houve alguma reclamação?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Frase: “O cliente reclamou do </a:t>
            </a:r>
            <a:r>
              <a:rPr b="1" lang="pt-BR" sz="1100">
                <a:solidFill>
                  <a:schemeClr val="lt2"/>
                </a:solidFill>
                <a:latin typeface="REM"/>
                <a:ea typeface="REM"/>
                <a:cs typeface="REM"/>
                <a:sym typeface="REM"/>
              </a:rPr>
              <a:t>atraso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na entrega,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mas elogiou o </a:t>
            </a: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atendimento.” → O peso de atraso vai ser maior</a:t>
            </a:r>
            <a:endParaRPr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  <p:cxnSp>
        <p:nvCxnSpPr>
          <p:cNvPr id="265" name="Google Shape;265;p48"/>
          <p:cNvCxnSpPr/>
          <p:nvPr/>
        </p:nvCxnSpPr>
        <p:spPr>
          <a:xfrm>
            <a:off x="4635500" y="1047750"/>
            <a:ext cx="15900" cy="360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O caminho que um texto percorre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71" name="Google Shape;271;p49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72" name="Google Shape;272;p49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 title="ChatGPT Image 7 de jan. de 2026, 10_06_07.png"/>
          <p:cNvPicPr preferRelativeResize="0"/>
          <p:nvPr/>
        </p:nvPicPr>
        <p:blipFill rotWithShape="1">
          <a:blip r:embed="rId4">
            <a:alphaModFix/>
          </a:blip>
          <a:srcRect b="31735" l="2918" r="7852" t="39643"/>
          <a:stretch/>
        </p:blipFill>
        <p:spPr>
          <a:xfrm>
            <a:off x="2047875" y="1168400"/>
            <a:ext cx="5048248" cy="107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9"/>
          <p:cNvSpPr txBox="1"/>
          <p:nvPr/>
        </p:nvSpPr>
        <p:spPr>
          <a:xfrm>
            <a:off x="590400" y="2711375"/>
            <a:ext cx="7963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processo começa com o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texto 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de entrada, que é dividido em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tokens 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(palavras ou partes delas). Cada token é convertido em um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embedding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, uma representação numérica que permite ao modelo trabalhar com significado. O mecanismo de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atenção 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avalia quais partes do texto são mais relevantes e, com base nisso, o modelo gera o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próximo token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de forma probabilística, construindo a resposta passo a passo. Todo esse processo é limitado pela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janela de contexto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, que define quanto do texto o modelo consegue considerar ao mesmo tempo. Quando esse limite é excedido, partes do conteúdo deixam de ser consideradas.</a:t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Modelo Base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80" name="Google Shape;280;p50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81" name="Google Shape;281;p50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50"/>
          <p:cNvSpPr txBox="1"/>
          <p:nvPr/>
        </p:nvSpPr>
        <p:spPr>
          <a:xfrm>
            <a:off x="590400" y="1312975"/>
            <a:ext cx="79632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Um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modelo base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é o ponto de partida. Ele é treinado em larga escala para prever o próximo token a partir de enormes volumes de texto bruto, como livros, artigos e páginas da web. O objetivo aqui é aprender a estrutura da língua, padrões sintáticos, semânticos e conhecimento geral. Ele sabe “como a linguagem funciona”, mas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não sabe necessariamente obedecer instruções nem interagir com humanos de forma adequada.</a:t>
            </a:r>
            <a:endParaRPr b="1"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Especialização: Instruction-tuned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88" name="Google Shape;288;p51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89" name="Google Shape;289;p51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51"/>
          <p:cNvSpPr txBox="1"/>
          <p:nvPr/>
        </p:nvSpPr>
        <p:spPr>
          <a:xfrm>
            <a:off x="590400" y="1312975"/>
            <a:ext cx="79632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Já um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modelo ajustado para receber instruções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é um modelo base que passou por uma etapa adicional de treinamento supervisionado com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pares de instrução → resposta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. Nessa fase, o modelo aprende explicitamente que, quando recebe uma instrução (“resuma”, “explique”, “classifique”, “gere”), ele deve seguir a tarefa solicitada. Isso muda bastante o comportamento: o modelo se torna mais útil para tarefas diretas, mais previsível e mais alinhado ao formato esperado. Ainda assim, ele não é otimizado para diálogo contínuo — cada prompt é tratado como uma tarefa isolada.</a:t>
            </a:r>
            <a:endParaRPr b="1"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/>
        </p:nvSpPr>
        <p:spPr>
          <a:xfrm>
            <a:off x="571400" y="558475"/>
            <a:ext cx="6189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Especialização: C</a:t>
            </a: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hat Models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296" name="Google Shape;296;p52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297" name="Google Shape;297;p52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2"/>
          <p:cNvSpPr txBox="1"/>
          <p:nvPr/>
        </p:nvSpPr>
        <p:spPr>
          <a:xfrm>
            <a:off x="590400" y="1312975"/>
            <a:ext cx="79632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Os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chat models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são uma evolução dos instruction-tuned, pensados especificamente para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conversação multi-turno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. Além do treinamento com instruções, eles passam por etapas onde aprendem a manter contexto, respeitar tom, evitar respostas perigosas, reconhecer quando não sabem algo e interagir de forma mais natural. Eles entendem papéis (“usuário”, “assistente”), lidam melhor com follow-ups e ajustam a resposta com base no histórico da conversa. Em essência, não são apenas bons em cumprir tarefas, mas em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conversar como um assistente.</a:t>
            </a:r>
            <a:endParaRPr b="1"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3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Inferência: por que cada resposta pode variar?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04" name="Google Shape;304;p53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05" name="Google Shape;305;p53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3"/>
          <p:cNvSpPr txBox="1"/>
          <p:nvPr/>
        </p:nvSpPr>
        <p:spPr>
          <a:xfrm>
            <a:off x="590400" y="1204474"/>
            <a:ext cx="7963200" cy="6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Inferência é o momento em que o modelo usa o que aprendeu para gerar uma resposta. Toda vez que você envia um prompt, o modelo: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AutoNum type="arabicPeriod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Lê o contexto e calcula probabilidades para o próximo token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AutoNum type="arabicPeriod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Escolhe um token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AutoNum type="arabicPeriod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Repete o processo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Amostragem: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Em vez de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sempre 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pegar o topo, o modelo amostra dessa distribuição.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Isso significa: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respostas podem variar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estrutura muda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exemplos mudam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palavras mudam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Mesmo com o mesmo prompt. Essa aleatoriedade controlada é o que torna o modelo natural e criativo.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Top-k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12" name="Google Shape;312;p54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13" name="Google Shape;313;p54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4"/>
          <p:cNvSpPr txBox="1"/>
          <p:nvPr/>
        </p:nvSpPr>
        <p:spPr>
          <a:xfrm>
            <a:off x="590400" y="1312975"/>
            <a:ext cx="47148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não precisa considerar tudo.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Top-k: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só os k tokens mais prováveis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Ex: Top 10.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15" name="Google Shape;315;p54"/>
          <p:cNvPicPr preferRelativeResize="0"/>
          <p:nvPr/>
        </p:nvPicPr>
        <p:blipFill rotWithShape="1">
          <a:blip r:embed="rId4">
            <a:alphaModFix/>
          </a:blip>
          <a:srcRect b="0" l="0" r="76471" t="13786"/>
          <a:stretch/>
        </p:blipFill>
        <p:spPr>
          <a:xfrm>
            <a:off x="4316375" y="1530525"/>
            <a:ext cx="2628426" cy="28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4"/>
          <p:cNvPicPr preferRelativeResize="0"/>
          <p:nvPr/>
        </p:nvPicPr>
        <p:blipFill rotWithShape="1">
          <a:blip r:embed="rId5">
            <a:alphaModFix/>
          </a:blip>
          <a:srcRect b="6852" l="30610" r="28910" t="6956"/>
          <a:stretch/>
        </p:blipFill>
        <p:spPr>
          <a:xfrm rot="10800000">
            <a:off x="6874832" y="1495075"/>
            <a:ext cx="710675" cy="29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4"/>
          <p:cNvSpPr txBox="1"/>
          <p:nvPr/>
        </p:nvSpPr>
        <p:spPr>
          <a:xfrm>
            <a:off x="7585500" y="2884325"/>
            <a:ext cx="10536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Top 10</a:t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Temperatura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23" name="Google Shape;323;p55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24" name="Google Shape;324;p5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5"/>
          <p:cNvSpPr txBox="1"/>
          <p:nvPr/>
        </p:nvSpPr>
        <p:spPr>
          <a:xfrm>
            <a:off x="590400" y="1312975"/>
            <a:ext cx="79632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 temperatura controla a distribuição: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Temperatura baixa (0.1–0.3)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→ respostas mais previsíveis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→ ideal para classificação, QA factual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Temperatura média (0.6–0.8)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→ equilíbrio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→ ideal para chat, explicação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Temperatura alta (1.0+)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→ mais variação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→ mais criatividade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→ mais risco de erro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26" name="Google Shape;326;p55"/>
          <p:cNvPicPr preferRelativeResize="0"/>
          <p:nvPr/>
        </p:nvPicPr>
        <p:blipFill rotWithShape="1">
          <a:blip r:embed="rId4">
            <a:alphaModFix/>
          </a:blip>
          <a:srcRect b="0" l="0" r="27478" t="0"/>
          <a:stretch/>
        </p:blipFill>
        <p:spPr>
          <a:xfrm>
            <a:off x="3388000" y="1499778"/>
            <a:ext cx="5165599" cy="2143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6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Top-p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32" name="Google Shape;332;p56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33" name="Google Shape;333;p56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6"/>
          <p:cNvSpPr txBox="1"/>
          <p:nvPr/>
        </p:nvSpPr>
        <p:spPr>
          <a:xfrm>
            <a:off x="590400" y="1156234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escolhe entre as palavras mais prováveis cuja soma de probabilidades atinge um valor P que definimos (ex.: 0.9). Isso limita o vocabulário às opções mais relevantes, mantendo diversidade controlada. 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Vamos supor que o modelo está tentando completar a frase: "O céu hoje está...", e ele gera estas possíveis próximas palavras com suas probabilidades: 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r>
              <a:rPr lang="pt-BR" sz="1100">
                <a:latin typeface="REM"/>
                <a:ea typeface="REM"/>
                <a:cs typeface="REM"/>
                <a:sym typeface="REM"/>
              </a:rPr>
              <a:t>• azul – 0.4 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r>
              <a:rPr lang="pt-BR" sz="1100">
                <a:latin typeface="REM"/>
                <a:ea typeface="REM"/>
                <a:cs typeface="REM"/>
                <a:sym typeface="REM"/>
              </a:rPr>
              <a:t>• nublado – 0.3 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r>
              <a:rPr lang="pt-BR" sz="1100">
                <a:latin typeface="REM"/>
                <a:ea typeface="REM"/>
                <a:cs typeface="REM"/>
                <a:sym typeface="REM"/>
              </a:rPr>
              <a:t>• limpo – 0.15 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r>
              <a:rPr lang="pt-BR" sz="1100">
                <a:latin typeface="REM"/>
                <a:ea typeface="REM"/>
                <a:cs typeface="REM"/>
                <a:sym typeface="REM"/>
              </a:rPr>
              <a:t>• chuvoso – 0.1 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r>
              <a:rPr lang="pt-BR" sz="1100">
                <a:latin typeface="REM"/>
                <a:ea typeface="REM"/>
                <a:cs typeface="REM"/>
                <a:sym typeface="REM"/>
              </a:rPr>
              <a:t>• neon – 0.03 </a:t>
            </a:r>
            <a:br>
              <a:rPr lang="pt-BR" sz="1100">
                <a:latin typeface="REM"/>
                <a:ea typeface="REM"/>
                <a:cs typeface="REM"/>
                <a:sym typeface="REM"/>
              </a:rPr>
            </a:br>
            <a:r>
              <a:rPr lang="pt-BR" sz="1100">
                <a:latin typeface="REM"/>
                <a:ea typeface="REM"/>
                <a:cs typeface="REM"/>
                <a:sym typeface="REM"/>
              </a:rPr>
              <a:t>• radioativo – 0.02</a:t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35" name="Google Shape;335;p56"/>
          <p:cNvSpPr txBox="1"/>
          <p:nvPr/>
        </p:nvSpPr>
        <p:spPr>
          <a:xfrm>
            <a:off x="3038350" y="2216650"/>
            <a:ext cx="5705400" cy="213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soma as palavras em ordem de maior probabilidade até chegar a 90%: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• azul (0.4) 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• nublado (0.3) → soma = 0.7 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• limpo (0.15) → soma = 0.85 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• chuvoso (0.1) → soma = 0.95 → passou de 0.9 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Nesse caso, ele considera apenas "azul", "nublado" e "limpo" como opções para amostragem. As outras (mais improváveis) são descartadas.</a:t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Contexto muda tudo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41" name="Google Shape;341;p57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42" name="Google Shape;342;p5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57"/>
          <p:cNvSpPr txBox="1"/>
          <p:nvPr/>
        </p:nvSpPr>
        <p:spPr>
          <a:xfrm>
            <a:off x="590400" y="1156234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Pequenas mudanças no contexto: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histórico da conversa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ordem das mensagens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system prompt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exemplos anteriores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Mudam completamente: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 distribuição de probabilidade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caminho de geração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Por isso: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Dois chats “iguais” nunca são 100% iguais.</a:t>
            </a:r>
            <a:endParaRPr b="1"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Alucinação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49" name="Google Shape;349;p58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8"/>
          <p:cNvSpPr txBox="1"/>
          <p:nvPr/>
        </p:nvSpPr>
        <p:spPr>
          <a:xfrm>
            <a:off x="590400" y="1156234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Alucinação acontece quando o modelo gera uma resposta linguisticamente plausível, mas factualmente incorreta ou não verificável, sem sinalizar incerteza.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Motivo 1 — O objetivo do modelo não é verdade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LLMs são treinados para prever o próximo token mais provável, não para verificar fatos no mundo real.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Motivo 2 — Ausência de conhecimento ≠ ausência de resposta e Falta de grounding externo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Quando o modelo não sabe, não tem contexto suficiente, ou foi mal instruído, ele não fica em silêncio por padrão. Ele tenta “gerar a melhor resposta possível”. Isso pode resultar em respostas inventadas, mas bem escritas. Quando não há RAG, tools ou fontes explícitas o modelo depende apenas do que está nos pesos do modelo.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Motivo 3 — Pressão do prompt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Prompts como: “explique detalhadamente”, “liste todos” ou “cite exemplos” empurram o modelo a preencher lacunas, mesmo quando a informação não existe.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Limitações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56" name="Google Shape;356;p59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9"/>
          <p:cNvSpPr txBox="1"/>
          <p:nvPr/>
        </p:nvSpPr>
        <p:spPr>
          <a:xfrm>
            <a:off x="590400" y="1373260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Limitação 1 — Conhecimento estático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não aprende durant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e 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a conversa, não atualiza fatos e não acessa a internet (por padrão). Ele reflete o estado do mundo no momento do treino.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Limitação 2 — Janela de contexto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só “enxerga” até N tokens esquece o que sai da janela, não tem memória persistente real. Isso afeta chats longos e documentos grandes e histórico acumulado.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Limitação 3 — Não há verificação interna de verdade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não valida fatos, não cruza fontes e não sabe se algo é verdadeiro. Ele sabe o que parece correto linguisticamente.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0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Limitações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63" name="Google Shape;363;p60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0"/>
          <p:cNvSpPr txBox="1"/>
          <p:nvPr/>
        </p:nvSpPr>
        <p:spPr>
          <a:xfrm>
            <a:off x="590400" y="1373260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Limitação 4 — Raciocínio é sequencial, não simbólico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Mesmo quando “parece raciocinar”, não executa lógica formal, não mantém estados explícitos e não garante consistência global. Por isso, pode errar contas simples, pode se contradizer e pode “mudar de ideia” no meio da resposta.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Limitação 5 — Sensível à forma do prompt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Mudanças pequenas como: ordem das frases, exemplos/dados ou tom mudam o caminho de inferência e a resposta final. Isso dificulta reprodutibilidade, auditoria e explicabilidade forte.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Limitação 6 — Não entende impacto social por si só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modelo replica padrões dos dados, herda vieses e não tem noção ética própria. Não tem regras, métricas e avaliação humana. Ele não sabe o que é justo ou injusto.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1"/>
          <p:cNvSpPr txBox="1"/>
          <p:nvPr/>
        </p:nvSpPr>
        <p:spPr>
          <a:xfrm>
            <a:off x="571400" y="4132275"/>
            <a:ext cx="7350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Transformers </a:t>
            </a:r>
            <a:endParaRPr sz="2300">
              <a:solidFill>
                <a:schemeClr val="lt1"/>
              </a:solidFill>
              <a:latin typeface="REM ExtraBold"/>
              <a:ea typeface="REM ExtraBold"/>
              <a:cs typeface="REM ExtraBold"/>
              <a:sym typeface="REM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70" name="Google Shape;370;p61" title="Logo-Cort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125" y="4230150"/>
            <a:ext cx="261725" cy="2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2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Transformers </a:t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76" name="Google Shape;376;p62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77" name="Google Shape;377;p62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62"/>
          <p:cNvSpPr txBox="1"/>
          <p:nvPr/>
        </p:nvSpPr>
        <p:spPr>
          <a:xfrm>
            <a:off x="571400" y="1059538"/>
            <a:ext cx="7925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Um tipo avançado de arquitetura de rede neural, lançada em 2017. Antes dele, os modelos processavam  o texto palavra por palavra. O Transformer mudou tudo ao permitir que o modelo olhe para todas as palavras ao mesmo tempo, usando mecanismos de </a:t>
            </a: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atenção</a:t>
            </a: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  <p:cxnSp>
        <p:nvCxnSpPr>
          <p:cNvPr id="379" name="Google Shape;379;p62"/>
          <p:cNvCxnSpPr/>
          <p:nvPr/>
        </p:nvCxnSpPr>
        <p:spPr>
          <a:xfrm>
            <a:off x="6437411" y="2238649"/>
            <a:ext cx="8100" cy="14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62"/>
          <p:cNvSpPr txBox="1"/>
          <p:nvPr/>
        </p:nvSpPr>
        <p:spPr>
          <a:xfrm>
            <a:off x="6562100" y="2182550"/>
            <a:ext cx="19347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100">
                <a:latin typeface="REM"/>
                <a:ea typeface="REM"/>
                <a:cs typeface="REM"/>
                <a:sym typeface="REM"/>
              </a:rPr>
              <a:t>“O banco quebrou”</a:t>
            </a:r>
            <a:endParaRPr i="1" sz="1100">
              <a:latin typeface="REM"/>
              <a:ea typeface="REM"/>
              <a:cs typeface="REM"/>
              <a:sym typeface="RE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Sem </a:t>
            </a: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contexto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, “banco” é ambíguo.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Com atenção, o modelo aprende a relacionar “banco” com “quebrou” e o restante da frase.</a:t>
            </a:r>
            <a:endParaRPr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81" name="Google Shape;38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388" y="1792225"/>
            <a:ext cx="2163375" cy="294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3255" y="1828730"/>
            <a:ext cx="3120228" cy="29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3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Encoder-Decoder</a:t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88" name="Google Shape;388;p63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89" name="Google Shape;389;p63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3"/>
          <p:cNvSpPr txBox="1"/>
          <p:nvPr/>
        </p:nvSpPr>
        <p:spPr>
          <a:xfrm>
            <a:off x="571400" y="1059615"/>
            <a:ext cx="79254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Como funciona: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Encoder lê todo o texto de entrada de uma vez e cria uma representação rica.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Decoder usa essa representação para gerar a saída, token por token.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É literalmente: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“Entendi o texto → agora vou gerar algo a partir disso”.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Quando isso é ótimo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Tradução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Resumo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Parafraseamento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Geração condicionada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91" name="Google Shape;391;p63"/>
          <p:cNvSpPr txBox="1"/>
          <p:nvPr/>
        </p:nvSpPr>
        <p:spPr>
          <a:xfrm>
            <a:off x="4469200" y="2736477"/>
            <a:ext cx="34500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Família de modelos: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T5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BART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mT5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4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Encoder-only</a:t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397" name="Google Shape;397;p64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398" name="Google Shape;398;p64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4"/>
          <p:cNvSpPr txBox="1"/>
          <p:nvPr/>
        </p:nvSpPr>
        <p:spPr>
          <a:xfrm>
            <a:off x="571400" y="1059615"/>
            <a:ext cx="79254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Como funciona: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O modelo lê toda a frase ao mesmo tempo.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Cada palavra pode olhar para todas as outras (atenção bidirecional).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O resultado é uma representação semântica do texto.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O que ele não faz: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Não gera texto.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Não escreve respostas.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Quando isso é ótimo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Classificação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Análise de sentimento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Detecção de viés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00" name="Google Shape;400;p64"/>
          <p:cNvSpPr txBox="1"/>
          <p:nvPr/>
        </p:nvSpPr>
        <p:spPr>
          <a:xfrm>
            <a:off x="4469200" y="3159875"/>
            <a:ext cx="34500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Família de modelos: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BERT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BERTimbau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RoBERTa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DistilBERT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"/>
          <p:cNvSpPr txBox="1"/>
          <p:nvPr/>
        </p:nvSpPr>
        <p:spPr>
          <a:xfrm>
            <a:off x="571400" y="558475"/>
            <a:ext cx="4121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Decoder-only </a:t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06" name="Google Shape;406;p65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07" name="Google Shape;407;p6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800" y="459000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65"/>
          <p:cNvSpPr txBox="1"/>
          <p:nvPr/>
        </p:nvSpPr>
        <p:spPr>
          <a:xfrm>
            <a:off x="571400" y="1059615"/>
            <a:ext cx="79254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Como funciona: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O modelo vê apenas o passado.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Ele aprende prevendo o próximo token.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AutoNum type="arabicPeriod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Para gerar bem, ele precisa compreender profundamente o contexto.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A regra é: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entender → prever → gerar → repetir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Quando isso é ótimo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Chat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Geração livre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Raciocínio em linguagem natural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Agentes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09" name="Google Shape;409;p65"/>
          <p:cNvSpPr txBox="1"/>
          <p:nvPr/>
        </p:nvSpPr>
        <p:spPr>
          <a:xfrm>
            <a:off x="4469200" y="2956017"/>
            <a:ext cx="34500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Família de modelos:</a:t>
            </a:r>
            <a:endParaRPr b="1"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OpenAI GPT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Meta LLaMA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Mistral AI Mistral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Qwen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M"/>
              <a:buChar char="●"/>
            </a:pPr>
            <a:r>
              <a:rPr lang="pt-BR" sz="1100">
                <a:solidFill>
                  <a:schemeClr val="dk1"/>
                </a:solidFill>
                <a:latin typeface="REM"/>
                <a:ea typeface="REM"/>
                <a:cs typeface="REM"/>
                <a:sym typeface="REM"/>
              </a:rPr>
              <a:t>Falcon</a:t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6"/>
          <p:cNvSpPr txBox="1"/>
          <p:nvPr/>
        </p:nvSpPr>
        <p:spPr>
          <a:xfrm>
            <a:off x="571400" y="4132275"/>
            <a:ext cx="7350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300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Casos de Uso de LLMs em Produtos Digitais</a:t>
            </a:r>
            <a:endParaRPr b="1"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15" name="Google Shape;415;p66" title="Logo-Cort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125" y="4230150"/>
            <a:ext cx="261725" cy="2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7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Chatbots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21" name="Google Shape;421;p67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22" name="Google Shape;422;p6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7"/>
          <p:cNvSpPr txBox="1"/>
          <p:nvPr/>
        </p:nvSpPr>
        <p:spPr>
          <a:xfrm>
            <a:off x="590400" y="1156234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Nesse modelo, o usuário conduz a interação. O LLM responde com base no contexto fornecido, podendo ou não estar conectado a uma base de conhecimento via RAG. A experiência é simples, mas o risco de alucinação cresce quando o domínio não está bem delimitado ou quando o chatbot tenta responder perguntas que exigiriam verificação externa.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Costuma ser usado para: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atendimento ao cliente,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esclarecimento de dúvidas frequentes,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suporte técnico básico,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acesso facilitado a informações.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Chatbots funcionam melhor quando: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escopo é restrito,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há tolerância a respostas genéricas,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impacto de erro é baixo.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8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Copilotos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29" name="Google Shape;429;p68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30" name="Google Shape;430;p68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8"/>
          <p:cNvSpPr txBox="1"/>
          <p:nvPr/>
        </p:nvSpPr>
        <p:spPr>
          <a:xfrm>
            <a:off x="590400" y="1156234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 foco do copiloto é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ajudar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a fazer. Ele atua como um parceiro cognitivo, oferecendo sugestões, rascunhos, recomendações contextuais, explicações sob demanda. Exemplos típicos incluem: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copilotos de código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copilotos de escrita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copilotos de análise de dados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Diferente do chatbot, o copiloto: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entende o estado atual do trabalho,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se integra a ferramentas,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opera dentro de um fluxo específico.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Aqui, a confiança é fundamental. O modelo precisa ser previsível, explicável e frequentemente combinado com validações automáticas ou humanas. Por isso, copilotos costumam usar prompts estruturados, ferramentas externas, regras claras de atuação e limites explícitos de autonomia.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9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Assistentes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37" name="Google Shape;437;p69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38" name="Google Shape;438;p69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9"/>
          <p:cNvSpPr txBox="1"/>
          <p:nvPr/>
        </p:nvSpPr>
        <p:spPr>
          <a:xfrm>
            <a:off x="590400" y="1156234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Assistentes são o nível mais avançado de uso de LLMs em produtos digitais. Eles não apenas interagem, mas executam ações dentro do sistema, muitas vezes de forma semiautônoma. O foco do assistente é orquestrar, decidir e agir.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Um assistente: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interpreta intenções,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coordena múltiplas etapas,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chama APIs e ferramentas,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mantém estado e contexto,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segue regras de negócio.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Nesse caso, o LLM deixa de ser apenas uma interface de linguagem e passa a ser parte da lógica operacional do produto. Isso exige guardrails fortes, validação de ações, controle de autonomia, monitoramento constante.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0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Agentes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45" name="Google Shape;445;p70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46" name="Google Shape;446;p70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70"/>
          <p:cNvSpPr txBox="1"/>
          <p:nvPr/>
        </p:nvSpPr>
        <p:spPr>
          <a:xfrm>
            <a:off x="590400" y="1156234"/>
            <a:ext cx="7970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Chatbot, copiloto e assistente são formas de interação. </a:t>
            </a:r>
            <a:r>
              <a:rPr b="1" lang="pt-BR" sz="1100">
                <a:latin typeface="REM"/>
                <a:ea typeface="REM"/>
                <a:cs typeface="REM"/>
                <a:sym typeface="REM"/>
              </a:rPr>
              <a:t>Agentes</a:t>
            </a:r>
            <a:r>
              <a:rPr lang="pt-BR" sz="1100">
                <a:latin typeface="REM"/>
                <a:ea typeface="REM"/>
                <a:cs typeface="REM"/>
                <a:sym typeface="REM"/>
              </a:rPr>
              <a:t> são entidades de decisão e execução por trás. Um agente é um componente que: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tem um objetivo claro,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recebe estado e contexto,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decide o que fazer,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pode executar ações (ou pedir confirmação),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segue regras e limites.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Ele pode usar um LLM para raciocinar, ferramentas (APIs, banco, serviços), memória (curto ou longo prazo), validações.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1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Como isso aparece na Interface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53" name="Google Shape;453;p71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54" name="Google Shape;454;p71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71"/>
          <p:cNvSpPr txBox="1"/>
          <p:nvPr/>
        </p:nvSpPr>
        <p:spPr>
          <a:xfrm>
            <a:off x="590400" y="1156225"/>
            <a:ext cx="39816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Copiloto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UI/UX típica: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painéis laterais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sugestões inline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botões “Aplicar sugestão”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comentários contextuais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Exemplo: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ferramenta de análise com insights laterais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56" name="Google Shape;456;p71"/>
          <p:cNvSpPr txBox="1"/>
          <p:nvPr/>
        </p:nvSpPr>
        <p:spPr>
          <a:xfrm>
            <a:off x="4762075" y="1066975"/>
            <a:ext cx="39816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REM"/>
                <a:ea typeface="REM"/>
                <a:cs typeface="REM"/>
                <a:sym typeface="REM"/>
              </a:rPr>
              <a:t>Assistente</a:t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UI/UX típica: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dashboards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cards de decisão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timelines de ações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notificações proativas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M"/>
              <a:buChar char="●"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logs de explicabilidade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Exemplo: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sistema que gera e executa planos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2"/>
          <p:cNvSpPr txBox="1"/>
          <p:nvPr/>
        </p:nvSpPr>
        <p:spPr>
          <a:xfrm>
            <a:off x="571400" y="558475"/>
            <a:ext cx="7060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Resumindo…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62" name="Google Shape;462;p72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63" name="Google Shape;463;p72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72"/>
          <p:cNvSpPr txBox="1"/>
          <p:nvPr/>
        </p:nvSpPr>
        <p:spPr>
          <a:xfrm>
            <a:off x="590400" y="1280280"/>
            <a:ext cx="39816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Chatbot → interface conversacional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Copiloto → assistência embutida no fluxo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Assistente → execução orientada a objetivo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Agentes → cérebro operacional por trás de tudo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3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Classificação, Sumarização e Extração de Informação com LLMs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70" name="Google Shape;470;p73"/>
          <p:cNvSpPr txBox="1"/>
          <p:nvPr/>
        </p:nvSpPr>
        <p:spPr>
          <a:xfrm>
            <a:off x="571400" y="910075"/>
            <a:ext cx="2546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71" name="Google Shape;471;p73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73"/>
          <p:cNvSpPr txBox="1"/>
          <p:nvPr/>
        </p:nvSpPr>
        <p:spPr>
          <a:xfrm>
            <a:off x="571400" y="1623825"/>
            <a:ext cx="77754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Essas três capacidades formam a base de muitos sistemas “invisíveis” que usam LLMs por trás da interface. Diferente de chatbots, aqui o LLM processa texto para gerar estrutura, não apenas linguagem fluida.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Classificação: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é a tarefa de atribuir um rótulo a um texto com base em seu conteúdo.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Sumarização: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é a tarefa de condensar um texto longo, preservando os pontos mais importantes.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Extração de Informações: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é a tarefa de identificar e estruturar elementos específicos dentro de um texto livre.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LLMs não servem apenas para “conversar”. Eles são excelentes em ler, decidir, resumir e estruturar informação.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4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Como LLMs fazem isso: Classificação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78" name="Google Shape;478;p74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74"/>
          <p:cNvSpPr txBox="1"/>
          <p:nvPr/>
        </p:nvSpPr>
        <p:spPr>
          <a:xfrm>
            <a:off x="571400" y="1213475"/>
            <a:ext cx="3767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modelo: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lê o texto,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compreende o contexto,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decide qual rótulo é mais apropriado,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retorna uma resposta estruturada (classe, score, justificativa).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Isso pode ser feito: sem treino adicional (zero-shot), com exemplos no prompt (few-shot), ou com fine-tuning (quando disponível).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80" name="Google Shape;480;p74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81" name="Google Shape;481;p74"/>
          <p:cNvSpPr txBox="1"/>
          <p:nvPr/>
        </p:nvSpPr>
        <p:spPr>
          <a:xfrm>
            <a:off x="4571900" y="1213475"/>
            <a:ext cx="4000500" cy="58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Onde isso aparece no produto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triagem automática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priorização de tarefas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roteamento de tickets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segmentação de usuários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moderação de conteúdo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Risco principal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Classificação parece determinística, mas ainda é probabilística. Por isso, em contextos críticos, é comum exigir score de confiança, usar revisão humana e combinar com regras fixas.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5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Como LLMs fazem isso: Sumarização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87" name="Google Shape;487;p7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75"/>
          <p:cNvSpPr txBox="1"/>
          <p:nvPr/>
        </p:nvSpPr>
        <p:spPr>
          <a:xfrm>
            <a:off x="571400" y="1213475"/>
            <a:ext cx="38436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modelo: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identifica os temas centrais,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ignora detalhes redundantes,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reorganiza a informação,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gera uma versão mais curta e legível.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LLMs são especialmente bons nisso porque entendem contexto global, reconhecem relevância semântica e mantêm coerência textual.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89" name="Google Shape;489;p75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90" name="Google Shape;490;p75"/>
          <p:cNvSpPr txBox="1"/>
          <p:nvPr/>
        </p:nvSpPr>
        <p:spPr>
          <a:xfrm>
            <a:off x="4571900" y="1213475"/>
            <a:ext cx="4000500" cy="58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Onde isso aparece no produto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resumos de reuniões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síntese de documentos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dashboards explicativos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relatórios automáticos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briefing para tomada de decisão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Risco principal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Sumarização pode omitir detalhes críticos, suavizar riscos e mudar o tom original. Por isso, bons produtos deixam claro que é um resumo, permitem acesso ao texto original, explicam critérios de sumarização.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6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Como LLMs fazem isso: </a:t>
            </a: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Extração de Informação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496" name="Google Shape;496;p76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76"/>
          <p:cNvSpPr txBox="1"/>
          <p:nvPr/>
        </p:nvSpPr>
        <p:spPr>
          <a:xfrm>
            <a:off x="571400" y="1213475"/>
            <a:ext cx="37992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modelo: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lê o texto,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reconhece padrões linguísticos e semânticos,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mapeia trechos para campos estruturados,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retorna JSON, tabelas ou pares chave–valor.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Aqui, o LLM funciona como um tradutor de linguagem natural para </a:t>
            </a:r>
            <a:r>
              <a:rPr b="1" lang="pt-BR" sz="1200">
                <a:latin typeface="REM"/>
                <a:ea typeface="REM"/>
                <a:cs typeface="REM"/>
                <a:sym typeface="REM"/>
              </a:rPr>
              <a:t>estrutura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98" name="Google Shape;498;p76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499" name="Google Shape;499;p76"/>
          <p:cNvSpPr txBox="1"/>
          <p:nvPr/>
        </p:nvSpPr>
        <p:spPr>
          <a:xfrm>
            <a:off x="4571900" y="1213475"/>
            <a:ext cx="4000500" cy="3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Onde isso aparece no produto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preenchimento automático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ingestão de documentos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CRM e sistemas jurídicos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pipelines de dados não estruturados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Risco principal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modelo pode inferir algo que não está explícito, preencher campos com “suposições”. Por isso, é comum exigir evidência textual, marcar campos como “inferido” vs “extraído”, validar antes de persistir.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7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Geração de texto estruturado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05" name="Google Shape;505;p7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77"/>
          <p:cNvSpPr txBox="1"/>
          <p:nvPr/>
        </p:nvSpPr>
        <p:spPr>
          <a:xfrm>
            <a:off x="571400" y="1394786"/>
            <a:ext cx="37992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Texto estruturado: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segue uma estrutura fixa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é repetível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é auditável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pode ser editado e validado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vira decisão, ação ou contrato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07" name="Google Shape;507;p77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08" name="Google Shape;508;p77"/>
          <p:cNvSpPr txBox="1"/>
          <p:nvPr/>
        </p:nvSpPr>
        <p:spPr>
          <a:xfrm>
            <a:off x="4571900" y="1394786"/>
            <a:ext cx="4000500" cy="3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Exemplos: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relatórios executivos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diagnósticos técnicos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propostas comerciais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dossiês analíticos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pareceres e planos de ação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8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Geração de texto estruturado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14" name="Google Shape;514;p78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78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Errado: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“Escreva um relatório completo sobre X”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Isso faz o modelo inventar a estrutura, variar formato a cada execução, misturar fatos, hipóteses e opinião e dificultar revisão e confiança.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LLMs não devem decidir a estrutura.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200">
                <a:latin typeface="REM"/>
                <a:ea typeface="REM"/>
                <a:cs typeface="REM"/>
                <a:sym typeface="REM"/>
              </a:rPr>
              <a:t>Estrutura primeiro, texto depois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Você define a estrutura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modelo preenche o conteúdo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sistema valida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 UI apresenta e permite ajuste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Esse princípio vale para qualquer tipo de documento.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16" name="Google Shape;516;p78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9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Dados, inferências e limites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22" name="Google Shape;522;p79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79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Um LLM precisa saber: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que veio dos dados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que é inferência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que não pode ser afirmado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Boa prática: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marcar hipóteses como hipóteses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exigir evidência para afirmações fortes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permitir campos vazios quando não há dado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24" name="Google Shape;524;p79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0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Schema em Geração de Texto Estruturado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30" name="Google Shape;530;p80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80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Schema é um contrato entre o sistema, o modelo e o produto.  Ele define i) o que deve existir, ii) em que formato, iii) com que tipo de conteúdo e iv) com que limites.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Schema diz como o documento deve ser, não o que o modelo acha bonito escrever.</a:t>
            </a:r>
            <a:endParaRPr b="1"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Schema pode existir como: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modelo mental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checklist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template fixo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formulário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contrato de API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JSON / YAML / Pydantic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32" name="Google Shape;532;p80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1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Nível 1 de schema: estrutura de seções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38" name="Google Shape;538;p81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81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nível mais básico de schema define seções obrigatórias.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Mesmo que uma seção fique vazia, ela existe.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Isso já elimina: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textos caóticos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omissões críticas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estrutura variável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40" name="Google Shape;540;p81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2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Nível 2 de schema: campos dentro das seções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46" name="Google Shape;546;p82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82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Agora cada seção tem campos explícitos.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 Mono"/>
                <a:ea typeface="Roboto Mono"/>
                <a:cs typeface="Roboto Mono"/>
                <a:sym typeface="Roboto Mono"/>
              </a:rPr>
              <a:t>  "objetivo":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 Mono"/>
                <a:ea typeface="Roboto Mono"/>
                <a:cs typeface="Roboto Mono"/>
                <a:sym typeface="Roboto Mono"/>
              </a:rPr>
              <a:t>    "descricao": "",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 Mono"/>
                <a:ea typeface="Roboto Mono"/>
                <a:cs typeface="Roboto Mono"/>
                <a:sym typeface="Roboto Mono"/>
              </a:rPr>
              <a:t>    "publico_alvo": "",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 Mono"/>
                <a:ea typeface="Roboto Mono"/>
                <a:cs typeface="Roboto Mono"/>
                <a:sym typeface="Roboto Mono"/>
              </a:rPr>
              <a:t>    "decisao_suportada": ""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Aqui o modelo não pode escrever um parágrafo solto.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Ele precisa preencher campos.</a:t>
            </a:r>
            <a:endParaRPr b="1"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48" name="Google Shape;548;p82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3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Nível 3 de schema: tipos de conteúdo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54" name="Google Shape;554;p83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83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Cada campo tem um tipo semântico, não só técnico.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Exemplos: lista, número, enum, hipótese, evidência, recomendação, etc.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"achados": [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"descricao": "",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"tipo": "fato | inferencia | risco",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"evidencias": []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Isso força o modelo a classificar o que está dizendo e não tratar opinião como fato.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56" name="Google Shape;556;p83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4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Separar fato, inferência e recomendação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62" name="Google Shape;562;p84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84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Recurso poderoso para que modelo se organize. Um fato é uma afirmação verificável e objetiva. Uma inferência é uma conclusão tirada a partir de evidências ou fatos, mas não diretamente observada. Uma recomendação é uma sugestão para uma ação futura.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"analise":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"fatos_observados": [],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"inferencias": [],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"recomendacoes": []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64" name="Google Shape;564;p84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5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Schema com níveis de confiança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70" name="Google Shape;570;p8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85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Outra prática madura: exigir confiança explícita.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"achado": "",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"nivel_confianca": "alto | medio | baixo",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"motivo_confianca": ""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Isso não torna o modelo perfeito, mas torna a incerteza visível. Através disso é possível criar regras, por exemplo: se o conteúdo tiver nível de confiança baixo, será oculto ou explicitamente marcado como baixo (princípio da transparência).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72" name="Google Shape;572;p85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6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Schema com evidência obrigatória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78" name="Google Shape;578;p86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86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Para contextos críticos, afirmação sem evidência não entra.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"recomendacao": "",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"justificativa": "",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"evidencias": [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"fonte": "",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"trecho": ""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EM"/>
                <a:ea typeface="REM"/>
                <a:cs typeface="REM"/>
                <a:sym typeface="REM"/>
              </a:rPr>
              <a:t>Se não houver evidência o campo fica vazio ou vira hipótese explicitamente marcada. O modelo é forçado a não inventar. Porém, tem o trade-off de que se não tiver informações suficientes o documento retortado será pobre.</a:t>
            </a:r>
            <a:endParaRPr sz="11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80" name="Google Shape;580;p86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7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Schema orientado a decisão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86" name="Google Shape;586;p8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87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Alguns documentos são usados para tomada de decisão. Schema pode deixar isso explícito.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"decisao_sugerida": "",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"opcoes_consideradas": [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"opcao": "",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"pros": [],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  "contras": []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],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  "impacto_esperado": ""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88" name="Google Shape;588;p87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8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Onde entram os agentes?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594" name="Google Shape;594;p88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88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Em documentos estruturados, agentes podem atuar como: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planejador (define outline)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pesquisador (coleta evidências)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redator (gera texto)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revisor (valida consistência)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formatador (aplica layout)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Separar papéis aumenta qualidade e controle.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596" name="Google Shape;596;p88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9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Problemas na Geração de Documentos Estruturados</a:t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02" name="Google Shape;602;p89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89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Cenário comum: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Recebo dados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Crio um prompt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Resultado varia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Evidências se perdem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Difícil validar e escalar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problema é que: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 entrada não é normalizada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 saída não é contratualizada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não existe validação entre gerar e publicar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04" name="Google Shape;604;p89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0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Pipeline Ideal</a:t>
            </a:r>
            <a:endParaRPr b="1" sz="23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10" name="Google Shape;610;p90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90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Visão conceitual do processo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Dados brutos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Normalização para input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Planejamento do documento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Geração por seção com schema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Validação e revisão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AutoNum type="arabicPeriod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Renderização final (documento / UI)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Nota: Cada etapa é detalhada no </a:t>
            </a:r>
            <a:r>
              <a:rPr lang="pt-BR" sz="1200" u="sng">
                <a:solidFill>
                  <a:schemeClr val="hlink"/>
                </a:solidFill>
                <a:latin typeface="REM"/>
                <a:ea typeface="REM"/>
                <a:cs typeface="REM"/>
                <a:sym typeface="REM"/>
                <a:hlinkClick r:id="rId4"/>
              </a:rPr>
              <a:t>material de apoio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, com exemplos de schema, prompts e validações.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12" name="Google Shape;612;p90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1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Sistemas Conversacionais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18" name="Google Shape;618;p91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91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São softwares projetados para interagir com usuários de forma natural, simulando uma conversa humana através de texto ou voz. Eles interpretam intenções, mantêm o contexto do diálogo e aprendem continuamente, sendo aplicados principalmente no atendimento ao cliente, suporte e automação de tarefas. É um pipeline com estado, regras, dados e controle, onde o LLM é um componente, não o sistema inteiro.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 </a:t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20" name="Google Shape;620;p91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2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Agentes e orquestração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26" name="Google Shape;626;p92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92"/>
          <p:cNvSpPr txBox="1"/>
          <p:nvPr/>
        </p:nvSpPr>
        <p:spPr>
          <a:xfrm>
            <a:off x="684300" y="1305550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 Orquestração é o processo de gerenciar, coordenar e sequenciar o trabalho de múltiplos agentes (ou de um único agente executando várias tarefas). É o "maestro" do sistema.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Sem orquestração, os agentes ficariam perdidos ou tentariam fazer tudo de uma vez. A orquestração define: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Fluxo: Quem começa? Quem revisa o trabalho de quem?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 Memória: Como as informações de um passo são passadas para o próximo.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 Controle: Quando o processo deve parar ou pedir ajuda humana.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28" name="Google Shape;628;p92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3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Como múltiplos agentes trabalham juntos?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34" name="Google Shape;634;p93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93"/>
          <p:cNvSpPr txBox="1"/>
          <p:nvPr/>
        </p:nvSpPr>
        <p:spPr>
          <a:xfrm>
            <a:off x="571400" y="125402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Imagine que você quer criar um relatório de mercado sobre a Nvidia. Em um sistema orquestrado, teríamos: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A Orquestração garante que o Escritor não comece a digitar antes do Pesquisador terminar, e que o Revisor mande o texto de volta para o Escritor caso encontre um erro.</a:t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36" name="Google Shape;636;p93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graphicFrame>
        <p:nvGraphicFramePr>
          <p:cNvPr id="637" name="Google Shape;637;p93"/>
          <p:cNvGraphicFramePr/>
          <p:nvPr/>
        </p:nvGraphicFramePr>
        <p:xfrm>
          <a:off x="820550" y="17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{0E73FB73-AADB-4C53-8E56-2D73E4D8CF0A}</a:tableStyleId>
              </a:tblPr>
              <a:tblGrid>
                <a:gridCol w="1162050"/>
                <a:gridCol w="876300"/>
                <a:gridCol w="52387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Papel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Agente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Tarefa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Pesquisador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Agente A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Varre a internet em busca das notícias mais recentes e dados financeiros.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Analista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Agente B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Pega os dados brutos e identifica tendências de crescimento ou riscos.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Escritor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Agente 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Transforma a análise em um texto elegante e formatado.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Revisor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Agente 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Checa se os fatos estão corretos e se o tom é profissional.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4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Prós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43" name="Google Shape;643;p94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94"/>
          <p:cNvSpPr txBox="1"/>
          <p:nvPr/>
        </p:nvSpPr>
        <p:spPr>
          <a:xfrm>
            <a:off x="571400" y="125402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Especialização e Precisão: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É o princípio do "dividir para conquistar". Um agente configurado apenas para "revisar código" será muito mais rigoroso do que um modelo geral tentando programar e revisar ao mesmo tempo. Isso reduz as chamadas "alucinações".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Modularidade: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Se você precisar mudar a forma como seu sistema faz buscas na web, você altera apenas o "Agente Pesquisador". O resto da orquestração permanece intacto. Isso facilita a manutenção e atualização do sistema.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Escalabilidade de Raciocínio: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Problemas complexos que excedem a janela de contexto ou a capacidade lógica de uma única resposta podem ser quebrados em 10 etapas menores. Cada agente resolve uma parte, mantendo o foco total naquela subtarefa.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Capacidade de </a:t>
            </a:r>
            <a:r>
              <a:rPr b="1" lang="pt-BR" sz="1200">
                <a:latin typeface="REM"/>
                <a:ea typeface="REM"/>
                <a:cs typeface="REM"/>
                <a:sym typeface="REM"/>
              </a:rPr>
              <a:t>Autocorreção</a:t>
            </a:r>
            <a:r>
              <a:rPr b="1" lang="pt-BR" sz="1200">
                <a:latin typeface="REM"/>
                <a:ea typeface="REM"/>
                <a:cs typeface="REM"/>
                <a:sym typeface="REM"/>
              </a:rPr>
              <a:t>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Na orquestração, você pode colocar um agente para vigiar o outro. Se o "Agente A" entregar um resultado medíocre, o "Agente B" (Crítico) pode rejeitar o output e mandar o Agente A refazer até que esteja perfeito.</a:t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45" name="Google Shape;645;p94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95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Contras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51" name="Google Shape;651;p9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95"/>
          <p:cNvSpPr txBox="1"/>
          <p:nvPr/>
        </p:nvSpPr>
        <p:spPr>
          <a:xfrm>
            <a:off x="571400" y="125402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Custo Elevado: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Cada agente faz suas próprias chamadas de API. Um fluxo com 5 agentes trocando mensagens entre si consome muito mais tokens do que uma única pergunta direta. O custo pode escalar rapidamente se o fluxo não for otimizado.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Latência (Demora):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Mais agentes significam mais tempo de processamento. Um sistema multi-agente raramente é "em tempo real". A resposta pode levar segundos ou até minutos, dependendo da complexidade da orquestração.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Propagação de Erros: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Se o primeiro agente da fila cometer um erro sutil e a orquestração não tiver um filtro de qualidade eficiente, esse erro será levado adiante e amplificado por todos os agentes subsequentes.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Dificuldade de Debugging: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Quando algo dá errado, pode ser difícil identificar onde o fluxo quebrou. Foi a instrução do maestro? Foi o Agente 2 que interpretou mal o Agente 1? Rastrear a "conversa" entre as máquinas exige ferramentas de monitoramento avançadas (como LangSmith ou Arize).</a:t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96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LLMs como camada de decisão (com cuidado)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59" name="Google Shape;659;p96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96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Para implementar isso com responsabilidade, usam-se padrões de design: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Padrão Planejador-Executor: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Uma LLM cria o plano de ação, e outra (ou um código rígido) revisa se o plano faz sentido antes de qualquer execução.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Decisão Baseada em Esquema (Structured Output):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Forçar a LLM a responder em JSON ou formatos pré-definidos. Isso impede que ela "se perca na conversa" e garante que a decisão caia em uma categoria que seu sistema entende.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Human-in-the-loop (HITL):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Para decisões de alto impacto (financeiras, médicas, deleção de dados), a LLM propõe a decisão, mas um humano deve clicar em "Aprovar".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61" name="Google Shape;661;p96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7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O que não é um bom caso de uso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67" name="Google Shape;667;p9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97"/>
          <p:cNvSpPr txBox="1"/>
          <p:nvPr/>
        </p:nvSpPr>
        <p:spPr>
          <a:xfrm>
            <a:off x="571400" y="1213475"/>
            <a:ext cx="77754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1. Operações Matemáticas e Lógicas Determinísticas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2. Processos de Baixa Latência e Altíssima Escala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3. Dados Altamente Dinâmicos sem RAG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4. Decisões Éticas ou Jurídicas de "Caixa Preta"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5. Substituição de Regras de Negócio Rígidas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69" name="Google Shape;669;p97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graphicFrame>
        <p:nvGraphicFramePr>
          <p:cNvPr id="670" name="Google Shape;670;p97"/>
          <p:cNvGraphicFramePr/>
          <p:nvPr/>
        </p:nvGraphicFramePr>
        <p:xfrm>
          <a:off x="1311088" y="27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{0E73FB73-AADB-4C53-8E56-2D73E4D8CF0A}</a:tableStyleId>
              </a:tblPr>
              <a:tblGrid>
                <a:gridCol w="3667125"/>
                <a:gridCol w="26289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Fuja da LLM se...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Use em vez disso...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O resultado precisa ser </a:t>
                      </a: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100% exato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 (matemática).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Calculadoras / Código.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O custo por transação precisa ser </a:t>
                      </a: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quase zero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Heurísticas ou ML Simples.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 resposta precisa ser </a:t>
                      </a: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instantânea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 (&lt;100ms).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Modelos locais ou Regras.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 regra de decisão é </a:t>
                      </a: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imutável e clara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Lógica de programação tradicional.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8"/>
          <p:cNvSpPr txBox="1"/>
          <p:nvPr/>
        </p:nvSpPr>
        <p:spPr>
          <a:xfrm>
            <a:off x="571400" y="4132275"/>
            <a:ext cx="7350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REM"/>
                <a:ea typeface="REM"/>
                <a:cs typeface="REM"/>
                <a:sym typeface="REM"/>
              </a:rPr>
              <a:t>Engenharia de Prompt</a:t>
            </a:r>
            <a:endParaRPr b="1"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76" name="Google Shape;676;p98" title="Logo-Cort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125" y="4230150"/>
            <a:ext cx="261725" cy="2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9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O que é prompt engineering — e o que não é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82" name="Google Shape;682;p99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99"/>
          <p:cNvSpPr txBox="1"/>
          <p:nvPr/>
        </p:nvSpPr>
        <p:spPr>
          <a:xfrm>
            <a:off x="571400" y="1213475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Prompt engineering é a prática de estruturar instruções para um modelo de linguagem de forma intencional, com o objetivo de induzir comportamentos previsíveis, alinhados ao contexto de negócio, às regras do produto e às expectativas do usuário. Ela envolve decisões conscientes sobre papel do sistema, escopo de atuação, limites, formato de resposta e critérios de sucesso.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Prompt engineering não é: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"Magia" ou "Feitiço": Não existem palavras mágicas que funcionam sempre.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Programação Tradicional: Diferente do código (Python, C++), o prompt é baseado em linguagem natural e é inerentemente não-determinístico (o mesmo prompt pode gerar resultados levemente diferentes).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M"/>
              <a:buChar char="●"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Uma Solução para Tudo: Se o modelo não possui o conhecimento (falta de dados) ou se a tarefa exige lógica matemática complexa que ultrapassa sua capacidade, nenhum prompt "perfeito" resolverá o problema.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84" name="Google Shape;684;p99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00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Estrutura de um bom prompt: papel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90" name="Google Shape;690;p100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100"/>
          <p:cNvSpPr txBox="1"/>
          <p:nvPr/>
        </p:nvSpPr>
        <p:spPr>
          <a:xfrm>
            <a:off x="571400" y="1213475"/>
            <a:ext cx="7775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Define a autoridade e o tom da resposta. Em vez de uma resposta "padrão", você evoca um conjunto específico de conhecimentos e comportamentos.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Exemplo: "Atue como um Especialista em Segurança da Informação com foco em conformidade bancária."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692" name="Google Shape;692;p100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1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Estrutura de um bom prompt: </a:t>
            </a: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contexto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698" name="Google Shape;698;p101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01"/>
          <p:cNvSpPr txBox="1"/>
          <p:nvPr/>
        </p:nvSpPr>
        <p:spPr>
          <a:xfrm>
            <a:off x="571400" y="1213475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Fornece as informações de base necessárias para que a IA entenda o cenário. Sem contexto, a IA alucina ou dá respostas óbvias demais.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Exemplo: "Estamos desenvolvendo um chatbot para a B3 que atenderá emissores de balcão sobre regulamentações da CVM."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700" name="Google Shape;700;p101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02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Estrutura de um bom prompt: tarefa 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706" name="Google Shape;706;p102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102"/>
          <p:cNvSpPr txBox="1"/>
          <p:nvPr/>
        </p:nvSpPr>
        <p:spPr>
          <a:xfrm>
            <a:off x="571400" y="1213475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É o verbo de ação. Deve ser clara, direta e, preferencialmente, única por bloco de prompt para evitar diluição de atenção.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Exemplo: "Elabore um resumo executivo dos principais pontos do documento 'Instrução CVM 358' que impactam o dia a dia desse atendente."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708" name="Google Shape;708;p102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03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Estrutura de um bom prompt: </a:t>
            </a: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restrições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714" name="Google Shape;714;p103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03"/>
          <p:cNvSpPr txBox="1"/>
          <p:nvPr/>
        </p:nvSpPr>
        <p:spPr>
          <a:xfrm>
            <a:off x="571400" y="1213475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Onde você define as "bordas" do campo. Isso evita que a IA escreva demais, use termos proibidos ou entregue em um formato indesejado.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Exemplo: "Não use termos técnicos sem explicá-los. O texto deve ter no máximo 300 palavras e ser entregue em tópicos (bullet points)."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716" name="Google Shape;716;p103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04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Exemplo de Prompt Estruturado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722" name="Google Shape;722;p104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04"/>
          <p:cNvSpPr txBox="1"/>
          <p:nvPr/>
        </p:nvSpPr>
        <p:spPr>
          <a:xfrm>
            <a:off x="571400" y="1472025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[Papel]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Atue como uma pesquisadora acadêmica sênior especializada em IA e Ética.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[Contexto]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Estou realizando uma Revisão Sistemática da Literatura sobre viés social em modelos de linguagem no Brasil.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[Tarefa] 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Analise o parágrafo abaixo e identifique possíveis lacunas na metodologia de mitigação de viés proposta.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EM"/>
                <a:ea typeface="REM"/>
                <a:cs typeface="REM"/>
                <a:sym typeface="REM"/>
              </a:rPr>
              <a:t>[Restrições]</a:t>
            </a:r>
            <a:r>
              <a:rPr lang="pt-BR" sz="1200">
                <a:latin typeface="REM"/>
                <a:ea typeface="REM"/>
                <a:cs typeface="REM"/>
                <a:sym typeface="REM"/>
              </a:rPr>
              <a:t> Foque apenas em aspectos técnicos de métricas de fairness. Não responda com introduções genéricas; vá direto aos pontos críticos em formato de tabela.</a:t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724" name="Google Shape;724;p104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5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Zero-Shot (Zero Exemplos)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730" name="Google Shape;730;p105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105"/>
          <p:cNvSpPr txBox="1"/>
          <p:nvPr/>
        </p:nvSpPr>
        <p:spPr>
          <a:xfrm>
            <a:off x="571400" y="1227100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É quando você pede para a IA realizar uma tarefa sem fornecer nenhum exemplo prévio. Você confia inteiramente no conhecimento pré-existente do modelo.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Quando usar: Tarefas simples, rotineiras ou quando o modelo já é muito robusto no assunto.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Exemplo: "Classifique o sentimento deste comentário: 'O sistema de busca da B3 é muito intuitivo'."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732" name="Google Shape;732;p105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06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Few-Shot (Poucos Exemplos)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738" name="Google Shape;738;p106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106"/>
          <p:cNvSpPr txBox="1"/>
          <p:nvPr/>
        </p:nvSpPr>
        <p:spPr>
          <a:xfrm>
            <a:off x="571400" y="1227100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Você fornece alguns exemplos de entrada e saída antes de pedir a execução da tarefa final. Isso "calibra" o modelo para o formato, tom e nível de detalhe que você espera.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Quando usar: Tarefas complexas, classificação com rótulos específicos ou quando você quer um formato de saída muito rígido.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"O mercado fechou em alta." -&gt; Sentimento: Positivo. </a:t>
            </a:r>
            <a:br>
              <a:rPr lang="pt-BR" sz="1200">
                <a:latin typeface="REM"/>
                <a:ea typeface="REM"/>
                <a:cs typeface="REM"/>
                <a:sym typeface="REM"/>
              </a:rPr>
            </a:br>
            <a:r>
              <a:rPr lang="pt-BR" sz="1200">
                <a:latin typeface="REM"/>
                <a:ea typeface="REM"/>
                <a:cs typeface="REM"/>
                <a:sym typeface="REM"/>
              </a:rPr>
              <a:t>"Houve queda no volume de negociação." -&gt; Sentimento: Negativo. </a:t>
            </a:r>
            <a:br>
              <a:rPr lang="pt-BR" sz="1200">
                <a:latin typeface="REM"/>
                <a:ea typeface="REM"/>
                <a:cs typeface="REM"/>
                <a:sym typeface="REM"/>
              </a:rPr>
            </a:br>
            <a:r>
              <a:rPr lang="pt-BR" sz="1200">
                <a:latin typeface="REM"/>
                <a:ea typeface="REM"/>
                <a:cs typeface="REM"/>
                <a:sym typeface="REM"/>
              </a:rPr>
              <a:t>"O Ibovespa operou em estabilidade." -&gt; Sentimento: [Complete aqui]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740" name="Google Shape;740;p106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7"/>
          <p:cNvSpPr txBox="1"/>
          <p:nvPr/>
        </p:nvSpPr>
        <p:spPr>
          <a:xfrm>
            <a:off x="571400" y="558475"/>
            <a:ext cx="7775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7213D"/>
                </a:solidFill>
                <a:latin typeface="REM"/>
                <a:ea typeface="REM"/>
                <a:cs typeface="REM"/>
                <a:sym typeface="REM"/>
              </a:rPr>
              <a:t>Exemplos Negativos (O que NÃO fazer)</a:t>
            </a:r>
            <a:endParaRPr b="1" sz="2500">
              <a:solidFill>
                <a:srgbClr val="27213D"/>
              </a:solidFill>
              <a:latin typeface="REM"/>
              <a:ea typeface="REM"/>
              <a:cs typeface="REM"/>
              <a:sym typeface="REM"/>
            </a:endParaRPr>
          </a:p>
        </p:txBody>
      </p:sp>
      <p:pic>
        <p:nvPicPr>
          <p:cNvPr id="746" name="Google Shape;746;p107" title="Logo-Cortex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675" y="4621750"/>
            <a:ext cx="938001" cy="1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107"/>
          <p:cNvSpPr txBox="1"/>
          <p:nvPr/>
        </p:nvSpPr>
        <p:spPr>
          <a:xfrm>
            <a:off x="571400" y="1213475"/>
            <a:ext cx="77754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Muitas vezes, dizer o que você quer não é suficiente; você precisa mostrar o que não serve. Isso é extremamente útil para evitar erros comuns ou comportamentos indesejados (como o modelo ser prolixo ou amigável demais em um contexto técnico).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Quando usar: Para reduzir "alucinações", evitar ambiguidades ou garantir que a IA não use termos proibidos.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Exemplo: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 Positivo: "O lucro cresceu 10%." -&gt; Resumo: Crescimento de 10%. 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EM"/>
                <a:ea typeface="REM"/>
                <a:cs typeface="REM"/>
                <a:sym typeface="REM"/>
              </a:rPr>
              <a:t>Exemplo Negativo (Não faça assim): "O lucro cresceu 10%." -&gt; Resumo: A empresa teve um desempenho excelente e os investidores estão felizes. (Motivo: Não adicione opiniões subjetivas).</a:t>
            </a:r>
            <a:endParaRPr sz="1200">
              <a:latin typeface="REM"/>
              <a:ea typeface="REM"/>
              <a:cs typeface="REM"/>
              <a:sym typeface="RE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  <p:sp>
        <p:nvSpPr>
          <p:cNvPr id="748" name="Google Shape;748;p107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M"/>
              <a:ea typeface="REM"/>
              <a:cs typeface="REM"/>
              <a:sym typeface="RE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41330"/>
      </a:dk1>
      <a:lt1>
        <a:srgbClr val="F1EEF2"/>
      </a:lt1>
      <a:dk2>
        <a:srgbClr val="DDD5DF"/>
      </a:dk2>
      <a:lt2>
        <a:srgbClr val="741E91"/>
      </a:lt2>
      <a:accent1>
        <a:srgbClr val="801245"/>
      </a:accent1>
      <a:accent2>
        <a:srgbClr val="FEA931"/>
      </a:accent2>
      <a:accent3>
        <a:srgbClr val="71BDA3"/>
      </a:accent3>
      <a:accent4>
        <a:srgbClr val="FFFFFF"/>
      </a:accent4>
      <a:accent5>
        <a:srgbClr val="721043"/>
      </a:accent5>
      <a:accent6>
        <a:srgbClr val="EEFF41"/>
      </a:accent6>
      <a:hlink>
        <a:srgbClr val="2185E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